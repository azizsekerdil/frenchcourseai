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2f8fa7121d9417b" /><Relationship Type="http://schemas.openxmlformats.org/officeDocument/2006/relationships/extended-properties" Target="/docProps/app.xml" Id="R6485c9cd70c2450a" /><Relationship Type="http://schemas.openxmlformats.org/officeDocument/2006/relationships/officeDocument" Target="/ppt/presentation.xml" Id="Rd73e0c4e8d754e9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fe9b9aabdcc4cf8"/>
  </p:sldMasterIdLst>
  <p:notesMasterIdLst>
    <p:notesMasterId xmlns:r="http://schemas.openxmlformats.org/officeDocument/2006/relationships" r:id="Ra8e114cae6f64444"/>
  </p:notesMasterIdLst>
  <p:sldIdLst>
    <p:sldId xmlns:r="http://schemas.openxmlformats.org/officeDocument/2006/relationships" id="256" r:id="R84170468b6c84abe"/>
    <p:sldId xmlns:r="http://schemas.openxmlformats.org/officeDocument/2006/relationships" id="257" r:id="R68af3acacc654393"/>
    <p:sldId xmlns:r="http://schemas.openxmlformats.org/officeDocument/2006/relationships" id="258" r:id="R7e679a63ff584942"/>
    <p:sldId xmlns:r="http://schemas.openxmlformats.org/officeDocument/2006/relationships" id="259" r:id="R164c92a6b4f046b9"/>
    <p:sldId xmlns:r="http://schemas.openxmlformats.org/officeDocument/2006/relationships" id="260" r:id="Rb9e3eaabdfce4def"/>
    <p:sldId xmlns:r="http://schemas.openxmlformats.org/officeDocument/2006/relationships" id="261" r:id="Rf1bcfd8a472541a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71566ef4c7c4090" /><Relationship Type="http://schemas.openxmlformats.org/officeDocument/2006/relationships/slideMaster" Target="/ppt/slideMasters/slideMaster1.xml" Id="R8fe9b9aabdcc4cf8" /><Relationship Type="http://schemas.openxmlformats.org/officeDocument/2006/relationships/notesMaster" Target="/ppt/notesMasters/notesMaster1.xml" Id="Ra8e114cae6f64444" /><Relationship Type="http://schemas.openxmlformats.org/officeDocument/2006/relationships/presProps" Target="/ppt/presProps.xml" Id="R4dc4f3ab446b4f73" /><Relationship Type="http://schemas.openxmlformats.org/officeDocument/2006/relationships/tableStyles" Target="/ppt/tableStyles.xml" Id="Rb71af95ddff44385" /><Relationship Type="http://schemas.openxmlformats.org/officeDocument/2006/relationships/slide" Target="/ppt/slides/slide1.xml" Id="R84170468b6c84abe" /><Relationship Type="http://schemas.openxmlformats.org/officeDocument/2006/relationships/slide" Target="/ppt/slides/slide2.xml" Id="R68af3acacc654393" /><Relationship Type="http://schemas.openxmlformats.org/officeDocument/2006/relationships/slide" Target="/ppt/slides/slide3.xml" Id="R7e679a63ff584942" /><Relationship Type="http://schemas.openxmlformats.org/officeDocument/2006/relationships/slide" Target="/ppt/slides/slide4.xml" Id="R164c92a6b4f046b9" /><Relationship Type="http://schemas.openxmlformats.org/officeDocument/2006/relationships/slide" Target="/ppt/slides/slide5.xml" Id="Rb9e3eaabdfce4def" /><Relationship Type="http://schemas.openxmlformats.org/officeDocument/2006/relationships/slide" Target="/ppt/slides/slide6.xml" Id="Rf1bcfd8a472541a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5c5f639930449c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2eaa33b600344ed" /><Relationship Type="http://schemas.openxmlformats.org/officeDocument/2006/relationships/notesMaster" Target="/ppt/notesMasters/notesMaster1.xml" Id="Rb8aca64535c643f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e59154eb50c41cf" /><Relationship Type="http://schemas.openxmlformats.org/officeDocument/2006/relationships/notesMaster" Target="/ppt/notesMasters/notesMaster1.xml" Id="R7804b2321908403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fd24be774f64e38" /><Relationship Type="http://schemas.openxmlformats.org/officeDocument/2006/relationships/notesMaster" Target="/ppt/notesMasters/notesMaster1.xml" Id="Rfd802da504ec4d4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bfdef51f92d4b2d" /><Relationship Type="http://schemas.openxmlformats.org/officeDocument/2006/relationships/notesMaster" Target="/ppt/notesMasters/notesMaster1.xml" Id="R258adeb3eed1438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8cbe67d95894e5d" /><Relationship Type="http://schemas.openxmlformats.org/officeDocument/2006/relationships/notesMaster" Target="/ppt/notesMasters/notesMaster1.xml" Id="R5c524dc62533484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8e083841e8a421a" /><Relationship Type="http://schemas.openxmlformats.org/officeDocument/2006/relationships/notesMaster" Target="/ppt/notesMasters/notesMaster1.xml" Id="R9079236c0084441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French Course AI overview.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icon generated for this project: D:\GE_FR\FrenchCourseAI\assets\app-final.png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a real screenshot captured from the packaged Windows executable.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 screenshot: D:\GE_FR\FrenchCourseAI\docs\presentation\assets\french-course-ai-screenshot.jpg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Learning engine and openly licensed resource catalog.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https://en.wikibooks.org/wiki/French</a:t>
            </a:r>
          </a:p>
          <a:p xmlns:a="http://schemas.openxmlformats.org/drawingml/2006/main">
            <a:r>
              <a:t>- https://tatoeba.org/en/downloads</a:t>
            </a:r>
          </a:p>
          <a:p xmlns:a="http://schemas.openxmlformats.org/drawingml/2006/main">
            <a:r>
              <a:t>- https://librivox.org/pages/about-librivox/</a:t>
            </a:r>
          </a:p>
          <a:p xmlns:a="http://schemas.openxmlformats.org/drawingml/2006/main">
            <a:r>
              <a:t>- https://www.gutenberg.org/policy/permission.html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French Course AI language-specific lab examples.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 seed data and tests in the local fca source tree.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optional AI path uses a local LM Studio endpoint. The token ledger stores usage metadata, not prompt or response text.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application source: fca/ai.py and fca/db.py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Delivery summary based on the packaged executable and automated test suite.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French Course AI local build output</a:t>
            </a:r>
          </a:p>
          <a:p xmlns:a="http://schemas.openxmlformats.org/drawingml/2006/main">
            <a:r>
              <a:t>- French Course AI pytest results</a:t>
            </a:r>
          </a:p>
          <a:p xmlns:a="http://schemas.openxmlformats.org/drawingml/2006/main">
            <a:r>
              <a:t>- https://github.com/Azizsekerdil/FrenchCourseAI/releases/tag/v1.2.1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c301cc863747b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9e68bf9a9c04f6e" /><Relationship Type="http://schemas.openxmlformats.org/officeDocument/2006/relationships/slideLayout" Target="/ppt/slideLayouts/slideLayout1.xml" Id="R95a3c3672be8452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5a3c3672be8452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f97821690c4b40" /><Relationship Type="http://schemas.openxmlformats.org/officeDocument/2006/relationships/image" Target="/ppt/media/image.png" Id="Rf7f67760445e4035" /><Relationship Type="http://schemas.openxmlformats.org/officeDocument/2006/relationships/notesSlide" Target="/ppt/notesSlides/notesSlide1.xml" Id="Rdd35bb52d8e54ef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84dfee68bb498a" /><Relationship Type="http://schemas.openxmlformats.org/officeDocument/2006/relationships/image" Target="/ppt/media/image.jpeg" Id="R8c47797256d04ebb" /><Relationship Type="http://schemas.openxmlformats.org/officeDocument/2006/relationships/notesSlide" Target="/ppt/notesSlides/notesSlide2.xml" Id="Ra480f2c5eadb404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c24a8287ad4207" /><Relationship Type="http://schemas.openxmlformats.org/officeDocument/2006/relationships/notesSlide" Target="/ppt/notesSlides/notesSlide3.xml" Id="R17da701b790b4c2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668d20597a401c" /><Relationship Type="http://schemas.openxmlformats.org/officeDocument/2006/relationships/notesSlide" Target="/ppt/notesSlides/notesSlide4.xml" Id="R4febf2a0af944ca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38e4db82e649c0" /><Relationship Type="http://schemas.openxmlformats.org/officeDocument/2006/relationships/notesSlide" Target="/ppt/notesSlides/notesSlide5.xml" Id="Rccec1fff7c3d419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a14f0cadd648dc" /><Relationship Type="http://schemas.openxmlformats.org/officeDocument/2006/relationships/notesSlide" Target="/ppt/notesSlides/notesSlide6.xml" Id="R5cec035047024ec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box-96">
            <a:extLst xmlns:a="http://schemas.openxmlformats.org/drawingml/2006/main">
              <a:ext uri="{FF2B5EF4-FFF2-40B4-BE49-F238E27FC236}">
                <a16:creationId xmlns:a16="http://schemas.microsoft.com/office/drawing/2014/main" id="{E223C60B-CAC2-4968-BC25-235EB988D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2" name="text-97">
            <a:extLst xmlns:a="http://schemas.openxmlformats.org/drawingml/2006/main">
              <a:ext uri="{FF2B5EF4-FFF2-40B4-BE49-F238E27FC236}">
                <a16:creationId xmlns:a16="http://schemas.microsoft.com/office/drawing/2014/main" id="{1E42BC4A-002F-4CB2-A3C7-5D3D1BC27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FRENCH COURSE AI</a:t>
            </a:r>
          </a:p>
        </p:txBody>
      </p:sp>
      <p:sp>
        <p:nvSpPr>
          <p:cNvPr id="3" name="text-98">
            <a:extLst xmlns:a="http://schemas.openxmlformats.org/drawingml/2006/main">
              <a:ext uri="{FF2B5EF4-FFF2-40B4-BE49-F238E27FC236}">
                <a16:creationId xmlns:a16="http://schemas.microsoft.com/office/drawing/2014/main" id="{E49E40FF-E503-45EC-B4D1-12E8F0AF5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01 / 06</a:t>
            </a:r>
          </a:p>
        </p:txBody>
      </p:sp>
      <p:sp>
        <p:nvSpPr>
          <p:cNvPr id="4" name="text-99">
            <a:extLst xmlns:a="http://schemas.openxmlformats.org/drawingml/2006/main">
              <a:ext uri="{FF2B5EF4-FFF2-40B4-BE49-F238E27FC236}">
                <a16:creationId xmlns:a16="http://schemas.microsoft.com/office/drawing/2014/main" id="{2FA721CE-71E9-421F-BDBC-B8B7DD9F0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2390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OFFLINE-FIRST WINDOWS LANGUAGE LEARNING</a:t>
            </a:r>
          </a:p>
        </p:txBody>
      </p:sp>
      <p:sp>
        <p:nvSpPr>
          <p:cNvPr id="5" name="text-100">
            <a:extLst xmlns:a="http://schemas.openxmlformats.org/drawingml/2006/main">
              <a:ext uri="{FF2B5EF4-FFF2-40B4-BE49-F238E27FC236}">
                <a16:creationId xmlns:a16="http://schemas.microsoft.com/office/drawing/2014/main" id="{A733FA3C-9736-4D62-B531-048E087B1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8191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French Course AI</a:t>
            </a:r>
          </a:p>
        </p:txBody>
      </p:sp>
      <p:sp>
        <p:nvSpPr>
          <p:cNvPr id="6" name="text-101">
            <a:extLst xmlns:a="http://schemas.openxmlformats.org/drawingml/2006/main">
              <a:ext uri="{FF2B5EF4-FFF2-40B4-BE49-F238E27FC236}">
                <a16:creationId xmlns:a16="http://schemas.microsoft.com/office/drawing/2014/main" id="{AE89DFDD-F261-4B9C-A630-431375AAF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43200"/>
            <a:ext cx="704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Türkçe · English · Français</a:t>
            </a:r>
          </a:p>
        </p:txBody>
      </p:sp>
      <p:sp>
        <p:nvSpPr>
          <p:cNvPr id="7" name="text-102">
            <a:extLst xmlns:a="http://schemas.openxmlformats.org/drawingml/2006/main">
              <a:ext uri="{FF2B5EF4-FFF2-40B4-BE49-F238E27FC236}">
                <a16:creationId xmlns:a16="http://schemas.microsoft.com/office/drawing/2014/main" id="{A0CD3429-C0E4-410A-87A6-473340916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91000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Yerel, ölçülebilir Fransızca öğrenimi</a:t>
            </a:r>
          </a:p>
        </p:txBody>
      </p:sp>
      <p:sp>
        <p:nvSpPr>
          <p:cNvPr id="8" name="text-103">
            <a:extLst xmlns:a="http://schemas.openxmlformats.org/drawingml/2006/main">
              <a:ext uri="{FF2B5EF4-FFF2-40B4-BE49-F238E27FC236}">
                <a16:creationId xmlns:a16="http://schemas.microsoft.com/office/drawing/2014/main" id="{7B533449-A15C-4788-B019-1D8E27C11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910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Local, measurable French learning</a:t>
            </a:r>
          </a:p>
        </p:txBody>
      </p:sp>
      <p:sp>
        <p:nvSpPr>
          <p:cNvPr id="9" name="text-104">
            <a:extLst xmlns:a="http://schemas.openxmlformats.org/drawingml/2006/main">
              <a:ext uri="{FF2B5EF4-FFF2-40B4-BE49-F238E27FC236}">
                <a16:creationId xmlns:a16="http://schemas.microsoft.com/office/drawing/2014/main" id="{B418E5D0-AEE0-4DB5-9699-C3391B616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Un apprentissage local et mesurable du français</a:t>
            </a:r>
          </a:p>
        </p:txBody>
      </p:sp>
      <p:sp>
        <p:nvSpPr>
          <p:cNvPr id="10" name="box-105">
            <a:extLst xmlns:a="http://schemas.openxmlformats.org/drawingml/2006/main">
              <a:ext uri="{FF2B5EF4-FFF2-40B4-BE49-F238E27FC236}">
                <a16:creationId xmlns:a16="http://schemas.microsoft.com/office/drawing/2014/main" id="{2BEB662D-BD9F-471B-918B-A1D8E6565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314450"/>
            <a:ext cx="238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5E5"/>
          </a:solidFill>
          <a:ln xmlns:a="http://schemas.openxmlformats.org/drawingml/2006/main" w="19050">
            <a:solidFill>
              <a:srgbClr val="FF6668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f67760445e4035"/>
          <a:stretch xmlns:a="http://schemas.openxmlformats.org/drawingml/2006/main"/>
        </p:blipFill>
        <p:spPr>
          <a:xfrm xmlns:a="http://schemas.openxmlformats.org/drawingml/2006/main">
            <a:off x="8963025" y="1552575"/>
            <a:ext cx="1905000" cy="1905000"/>
          </a:xfrm>
          <a:prstGeom xmlns:a="http://schemas.openxmlformats.org/drawingml/2006/main" prst="rect">
            <a:avLst/>
          </a:prstGeom>
        </p:spPr>
      </p:pic>
      <p:sp>
        <p:nvSpPr>
          <p:cNvPr id="12" name="text-106">
            <a:extLst xmlns:a="http://schemas.openxmlformats.org/drawingml/2006/main">
              <a:ext uri="{FF2B5EF4-FFF2-40B4-BE49-F238E27FC236}">
                <a16:creationId xmlns:a16="http://schemas.microsoft.com/office/drawing/2014/main" id="{3432A8B7-D95B-4BA0-883C-C4A2E6769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0005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Windows x64 · macOS arm64</a:t>
            </a:r>
          </a:p>
        </p:txBody>
      </p:sp>
    </p:spTree>
    <p:extLst>
      <p:ext uri="{BB962C8B-B14F-4D97-AF65-F5344CB8AC3E}">
        <p14:creationId xmlns:p14="http://schemas.microsoft.com/office/powerpoint/2010/main" val="99443341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box-107">
            <a:extLst xmlns:a="http://schemas.openxmlformats.org/drawingml/2006/main">
              <a:ext uri="{FF2B5EF4-FFF2-40B4-BE49-F238E27FC236}">
                <a16:creationId xmlns:a16="http://schemas.microsoft.com/office/drawing/2014/main" id="{CE04DA62-A428-4613-8DD9-061B53A5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2" name="text-108">
            <a:extLst xmlns:a="http://schemas.openxmlformats.org/drawingml/2006/main">
              <a:ext uri="{FF2B5EF4-FFF2-40B4-BE49-F238E27FC236}">
                <a16:creationId xmlns:a16="http://schemas.microsoft.com/office/drawing/2014/main" id="{0A1D9E25-65C6-4C2A-B8F2-A714B492C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FRENCH COURSE AI</a:t>
            </a:r>
          </a:p>
        </p:txBody>
      </p:sp>
      <p:sp>
        <p:nvSpPr>
          <p:cNvPr id="3" name="text-109">
            <a:extLst xmlns:a="http://schemas.openxmlformats.org/drawingml/2006/main">
              <a:ext uri="{FF2B5EF4-FFF2-40B4-BE49-F238E27FC236}">
                <a16:creationId xmlns:a16="http://schemas.microsoft.com/office/drawing/2014/main" id="{0F5206BB-3CC4-4983-A447-08D952EF3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02 / 06</a:t>
            </a:r>
          </a:p>
        </p:txBody>
      </p:sp>
      <p:sp>
        <p:nvSpPr>
          <p:cNvPr id="4" name="text-110">
            <a:extLst xmlns:a="http://schemas.openxmlformats.org/drawingml/2006/main">
              <a:ext uri="{FF2B5EF4-FFF2-40B4-BE49-F238E27FC236}">
                <a16:creationId xmlns:a16="http://schemas.microsoft.com/office/drawing/2014/main" id="{DB6CE1F0-DFAF-42DC-8593-02722F96A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4095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Apprendre sans friction</a:t>
            </a:r>
          </a:p>
        </p:txBody>
      </p:sp>
      <p:sp>
        <p:nvSpPr>
          <p:cNvPr id="5" name="text-111">
            <a:extLst xmlns:a="http://schemas.openxmlformats.org/drawingml/2006/main">
              <a:ext uri="{FF2B5EF4-FFF2-40B4-BE49-F238E27FC236}">
                <a16:creationId xmlns:a16="http://schemas.microsoft.com/office/drawing/2014/main" id="{080E81FA-80B3-482A-AD9D-39DE2227C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859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Tek uygulama, üç arayüz</a:t>
            </a:r>
          </a:p>
        </p:txBody>
      </p:sp>
      <p:sp>
        <p:nvSpPr>
          <p:cNvPr id="6" name="text-112">
            <a:extLst xmlns:a="http://schemas.openxmlformats.org/drawingml/2006/main">
              <a:ext uri="{FF2B5EF4-FFF2-40B4-BE49-F238E27FC236}">
                <a16:creationId xmlns:a16="http://schemas.microsoft.com/office/drawing/2014/main" id="{2B39B590-5EB0-4B57-84E1-59934F4C0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098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One app, three interfaces</a:t>
            </a:r>
          </a:p>
        </p:txBody>
      </p:sp>
      <p:sp>
        <p:nvSpPr>
          <p:cNvPr id="7" name="box-113">
            <a:extLst xmlns:a="http://schemas.openxmlformats.org/drawingml/2006/main">
              <a:ext uri="{FF2B5EF4-FFF2-40B4-BE49-F238E27FC236}">
                <a16:creationId xmlns:a16="http://schemas.microsoft.com/office/drawing/2014/main" id="{A290B810-1799-4846-A51A-8391ECE1A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09850"/>
            <a:ext cx="3600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8" name="text-114">
            <a:extLst xmlns:a="http://schemas.openxmlformats.org/drawingml/2006/main">
              <a:ext uri="{FF2B5EF4-FFF2-40B4-BE49-F238E27FC236}">
                <a16:creationId xmlns:a16="http://schemas.microsoft.com/office/drawing/2014/main" id="{5ABB88AE-798D-4583-8D4C-AB48458A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14650"/>
            <a:ext cx="38100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18 espaces relient révision, vocabulaire, dictionnaire trilingue FR-EN-TR, examen, grammaire et pratique dans un atelier Windows cohérent.</a:t>
            </a:r>
          </a:p>
        </p:txBody>
      </p:sp>
      <p:sp>
        <p:nvSpPr>
          <p:cNvPr id="9" name="text-115">
            <a:extLst xmlns:a="http://schemas.openxmlformats.org/drawingml/2006/main">
              <a:ext uri="{FF2B5EF4-FFF2-40B4-BE49-F238E27FC236}">
                <a16:creationId xmlns:a16="http://schemas.microsoft.com/office/drawing/2014/main" id="{0734C1A0-C64F-4F9B-8A18-1F1036BA9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Dil seçimi anında kaydedilir; uygulama çevrimdışı çalışmaya devam eder.</a:t>
            </a:r>
          </a:p>
        </p:txBody>
      </p:sp>
      <p:sp>
        <p:nvSpPr>
          <p:cNvPr id="10" name="text-116">
            <a:extLst xmlns:a="http://schemas.openxmlformats.org/drawingml/2006/main">
              <a:ext uri="{FF2B5EF4-FFF2-40B4-BE49-F238E27FC236}">
                <a16:creationId xmlns:a16="http://schemas.microsoft.com/office/drawing/2014/main" id="{97B2ADFD-5A48-4724-AB6C-93A1A848F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1970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The language choice persists instantly, and core learning stays available offline.</a:t>
            </a:r>
          </a:p>
        </p:txBody>
      </p:sp>
      <p:sp>
        <p:nvSpPr>
          <p:cNvPr id="11" name="box-117">
            <a:extLst xmlns:a="http://schemas.openxmlformats.org/drawingml/2006/main">
              <a:ext uri="{FF2B5EF4-FFF2-40B4-BE49-F238E27FC236}">
                <a16:creationId xmlns:a16="http://schemas.microsoft.com/office/drawing/2014/main" id="{1C900957-791B-4884-94BE-AB08E2517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876300"/>
            <a:ext cx="7277100" cy="495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5E5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47797256d04ebb"/>
          <a:stretch xmlns:a="http://schemas.openxmlformats.org/drawingml/2006/main"/>
        </p:blipFill>
        <p:spPr>
          <a:xfrm xmlns:a="http://schemas.openxmlformats.org/drawingml/2006/main">
            <a:off x="4692997" y="1047750"/>
            <a:ext cx="6920805" cy="4533900"/>
          </a:xfrm>
          <a:prstGeom xmlns:a="http://schemas.openxmlformats.org/drawingml/2006/main" prst="rect">
            <a:avLst/>
          </a:prstGeom>
        </p:spPr>
      </p:pic>
      <p:sp>
        <p:nvSpPr>
          <p:cNvPr id="13" name="text-118">
            <a:extLst xmlns:a="http://schemas.openxmlformats.org/drawingml/2006/main">
              <a:ext uri="{FF2B5EF4-FFF2-40B4-BE49-F238E27FC236}">
                <a16:creationId xmlns:a16="http://schemas.microsoft.com/office/drawing/2014/main" id="{8175A902-0960-471B-B828-66E993678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5924550"/>
            <a:ext cx="6934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Gerçek EXE ekranı · Real executable · Application réelle</a:t>
            </a:r>
          </a:p>
        </p:txBody>
      </p:sp>
    </p:spTree>
    <p:extLst>
      <p:ext uri="{BB962C8B-B14F-4D97-AF65-F5344CB8AC3E}">
        <p14:creationId xmlns:p14="http://schemas.microsoft.com/office/powerpoint/2010/main" val="85612650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box-119">
            <a:extLst xmlns:a="http://schemas.openxmlformats.org/drawingml/2006/main">
              <a:ext uri="{FF2B5EF4-FFF2-40B4-BE49-F238E27FC236}">
                <a16:creationId xmlns:a16="http://schemas.microsoft.com/office/drawing/2014/main" id="{84BC7223-A342-4B02-9D4B-380E7C2E8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2" name="text-120">
            <a:extLst xmlns:a="http://schemas.openxmlformats.org/drawingml/2006/main">
              <a:ext uri="{FF2B5EF4-FFF2-40B4-BE49-F238E27FC236}">
                <a16:creationId xmlns:a16="http://schemas.microsoft.com/office/drawing/2014/main" id="{3C4A7342-DA06-4BAC-9536-AA193E315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FRENCH COURSE AI</a:t>
            </a:r>
          </a:p>
        </p:txBody>
      </p:sp>
      <p:sp>
        <p:nvSpPr>
          <p:cNvPr id="3" name="text-121">
            <a:extLst xmlns:a="http://schemas.openxmlformats.org/drawingml/2006/main">
              <a:ext uri="{FF2B5EF4-FFF2-40B4-BE49-F238E27FC236}">
                <a16:creationId xmlns:a16="http://schemas.microsoft.com/office/drawing/2014/main" id="{5EDC0491-CAA2-4379-90AD-37D63BAE7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03 / 06</a:t>
            </a:r>
          </a:p>
        </p:txBody>
      </p:sp>
      <p:sp>
        <p:nvSpPr>
          <p:cNvPr id="4" name="text-122">
            <a:extLst xmlns:a="http://schemas.openxmlformats.org/drawingml/2006/main">
              <a:ext uri="{FF2B5EF4-FFF2-40B4-BE49-F238E27FC236}">
                <a16:creationId xmlns:a16="http://schemas.microsoft.com/office/drawing/2014/main" id="{D192008C-B04C-4801-A636-7E161EC3E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 learning engine that remembers</a:t>
            </a:r>
          </a:p>
        </p:txBody>
      </p:sp>
      <p:sp>
        <p:nvSpPr>
          <p:cNvPr id="5" name="text-123">
            <a:extLst xmlns:a="http://schemas.openxmlformats.org/drawingml/2006/main">
              <a:ext uri="{FF2B5EF4-FFF2-40B4-BE49-F238E27FC236}">
                <a16:creationId xmlns:a16="http://schemas.microsoft.com/office/drawing/2014/main" id="{B02D286A-F404-406A-BE6D-371C8DA9E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Öğrenme motoru hatırlar · Le moteur d’apprentissage retient vos progrès</a:t>
            </a:r>
          </a:p>
        </p:txBody>
      </p:sp>
      <p:sp>
        <p:nvSpPr>
          <p:cNvPr id="6" name="text-124">
            <a:extLst xmlns:a="http://schemas.openxmlformats.org/drawingml/2006/main">
              <a:ext uri="{FF2B5EF4-FFF2-40B4-BE49-F238E27FC236}">
                <a16:creationId xmlns:a16="http://schemas.microsoft.com/office/drawing/2014/main" id="{2FD8DB01-85C4-495B-AB16-9C9644EB4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57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TÜRKÇE</a:t>
            </a:r>
          </a:p>
        </p:txBody>
      </p:sp>
      <p:sp>
        <p:nvSpPr>
          <p:cNvPr id="7" name="box-125">
            <a:extLst xmlns:a="http://schemas.openxmlformats.org/drawingml/2006/main">
              <a:ext uri="{FF2B5EF4-FFF2-40B4-BE49-F238E27FC236}">
                <a16:creationId xmlns:a16="http://schemas.microsoft.com/office/drawing/2014/main" id="{32AAAA30-B0AD-4841-B445-C948FC496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956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8" name="text-126">
            <a:extLst xmlns:a="http://schemas.openxmlformats.org/drawingml/2006/main">
              <a:ext uri="{FF2B5EF4-FFF2-40B4-BE49-F238E27FC236}">
                <a16:creationId xmlns:a16="http://schemas.microsoft.com/office/drawing/2014/main" id="{FB0A372F-1FB8-4FA2-AAC7-EBFBD96F3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81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Her gün doğru sıra</a:t>
            </a:r>
          </a:p>
        </p:txBody>
      </p:sp>
      <p:sp>
        <p:nvSpPr>
          <p:cNvPr id="9" name="text-127">
            <a:extLst xmlns:a="http://schemas.openxmlformats.org/drawingml/2006/main">
              <a:ext uri="{FF2B5EF4-FFF2-40B4-BE49-F238E27FC236}">
                <a16:creationId xmlns:a16="http://schemas.microsoft.com/office/drawing/2014/main" id="{560D61AE-41F8-41C8-96E5-DAA21E81A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62400"/>
            <a:ext cx="3143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SM-2 ve Leitner, yeni ve gecikmiş kartları günlük bir sıraya dönüştürür.</a:t>
            </a:r>
          </a:p>
        </p:txBody>
      </p:sp>
      <p:sp>
        <p:nvSpPr>
          <p:cNvPr id="10" name="text-128">
            <a:extLst xmlns:a="http://schemas.openxmlformats.org/drawingml/2006/main">
              <a:ext uri="{FF2B5EF4-FFF2-40B4-BE49-F238E27FC236}">
                <a16:creationId xmlns:a16="http://schemas.microsoft.com/office/drawing/2014/main" id="{648EF23B-62E9-440D-8ED9-9543B9FC5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57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ENGLISH</a:t>
            </a:r>
          </a:p>
        </p:txBody>
      </p:sp>
      <p:sp>
        <p:nvSpPr>
          <p:cNvPr id="11" name="box-129">
            <a:extLst xmlns:a="http://schemas.openxmlformats.org/drawingml/2006/main">
              <a:ext uri="{FF2B5EF4-FFF2-40B4-BE49-F238E27FC236}">
                <a16:creationId xmlns:a16="http://schemas.microsoft.com/office/drawing/2014/main" id="{07E0E4E6-8AF8-41A9-B391-690F51365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956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12" name="text-130">
            <a:extLst xmlns:a="http://schemas.openxmlformats.org/drawingml/2006/main">
              <a:ext uri="{FF2B5EF4-FFF2-40B4-BE49-F238E27FC236}">
                <a16:creationId xmlns:a16="http://schemas.microsoft.com/office/drawing/2014/main" id="{87F4024D-FFCD-4D43-98EA-6499858AB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181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Practice with evidence</a:t>
            </a:r>
          </a:p>
        </p:txBody>
      </p:sp>
      <p:sp>
        <p:nvSpPr>
          <p:cNvPr id="13" name="text-131">
            <a:extLst xmlns:a="http://schemas.openxmlformats.org/drawingml/2006/main">
              <a:ext uri="{FF2B5EF4-FFF2-40B4-BE49-F238E27FC236}">
                <a16:creationId xmlns:a16="http://schemas.microsoft.com/office/drawing/2014/main" id="{7ABCE6C3-7FFE-4247-967F-3784C8471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962400"/>
            <a:ext cx="3143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162 A1 entries, a 1,210-entry FR-EN-TR dictionary with selectable direction, strict accented answers, exams, favorites and mistakes share one SQLite record.</a:t>
            </a:r>
          </a:p>
        </p:txBody>
      </p:sp>
      <p:sp>
        <p:nvSpPr>
          <p:cNvPr id="14" name="text-132">
            <a:extLst xmlns:a="http://schemas.openxmlformats.org/drawingml/2006/main">
              <a:ext uri="{FF2B5EF4-FFF2-40B4-BE49-F238E27FC236}">
                <a16:creationId xmlns:a16="http://schemas.microsoft.com/office/drawing/2014/main" id="{403AF54B-D5D1-4924-8C98-505DD8CAC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57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FRANÇAIS</a:t>
            </a:r>
          </a:p>
        </p:txBody>
      </p:sp>
      <p:sp>
        <p:nvSpPr>
          <p:cNvPr id="15" name="box-133">
            <a:extLst xmlns:a="http://schemas.openxmlformats.org/drawingml/2006/main">
              <a:ext uri="{FF2B5EF4-FFF2-40B4-BE49-F238E27FC236}">
                <a16:creationId xmlns:a16="http://schemas.microsoft.com/office/drawing/2014/main" id="{92BB9DE6-E196-410B-A032-0431CA6CF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8956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16" name="text-134">
            <a:extLst xmlns:a="http://schemas.openxmlformats.org/drawingml/2006/main">
              <a:ext uri="{FF2B5EF4-FFF2-40B4-BE49-F238E27FC236}">
                <a16:creationId xmlns:a16="http://schemas.microsoft.com/office/drawing/2014/main" id="{80423748-BBE4-47B2-8BEE-9864D8416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181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Les progrès restent locaux</a:t>
            </a:r>
          </a:p>
        </p:txBody>
      </p:sp>
      <p:sp>
        <p:nvSpPr>
          <p:cNvPr id="17" name="text-135">
            <a:extLst xmlns:a="http://schemas.openxmlformats.org/drawingml/2006/main">
              <a:ext uri="{FF2B5EF4-FFF2-40B4-BE49-F238E27FC236}">
                <a16:creationId xmlns:a16="http://schemas.microsoft.com/office/drawing/2014/main" id="{00BB5B91-7A80-4C49-BF98-232739F36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962400"/>
            <a:ext cx="3143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Révisions, erreurs, favoris et examens sont enregistrés localement et restent explicables.</a:t>
            </a:r>
          </a:p>
        </p:txBody>
      </p:sp>
      <p:sp>
        <p:nvSpPr>
          <p:cNvPr id="18" name="text-136">
            <a:extLst xmlns:a="http://schemas.openxmlformats.org/drawingml/2006/main">
              <a:ext uri="{FF2B5EF4-FFF2-40B4-BE49-F238E27FC236}">
                <a16:creationId xmlns:a16="http://schemas.microsoft.com/office/drawing/2014/main" id="{F9DD2DEE-4D74-473B-AF46-08790169C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674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Kaynak kataloğu / resource catalog / catalogue de ressources: Wikibooks · Tatoeba · LibriVox · Project Gutenberg</a:t>
            </a:r>
          </a:p>
        </p:txBody>
      </p:sp>
    </p:spTree>
    <p:extLst>
      <p:ext uri="{BB962C8B-B14F-4D97-AF65-F5344CB8AC3E}">
        <p14:creationId xmlns:p14="http://schemas.microsoft.com/office/powerpoint/2010/main" val="185566049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ox-137">
            <a:extLst xmlns:a="http://schemas.openxmlformats.org/drawingml/2006/main">
              <a:ext uri="{FF2B5EF4-FFF2-40B4-BE49-F238E27FC236}">
                <a16:creationId xmlns:a16="http://schemas.microsoft.com/office/drawing/2014/main" id="{74A0E605-4158-458F-B729-482AA225E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2" name="text-138">
            <a:extLst xmlns:a="http://schemas.openxmlformats.org/drawingml/2006/main">
              <a:ext uri="{FF2B5EF4-FFF2-40B4-BE49-F238E27FC236}">
                <a16:creationId xmlns:a16="http://schemas.microsoft.com/office/drawing/2014/main" id="{916EDC24-2128-44C1-95CD-E77E8C8E2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FRENCH COURSE AI</a:t>
            </a:r>
          </a:p>
        </p:txBody>
      </p:sp>
      <p:sp>
        <p:nvSpPr>
          <p:cNvPr id="3" name="text-139">
            <a:extLst xmlns:a="http://schemas.openxmlformats.org/drawingml/2006/main">
              <a:ext uri="{FF2B5EF4-FFF2-40B4-BE49-F238E27FC236}">
                <a16:creationId xmlns:a16="http://schemas.microsoft.com/office/drawing/2014/main" id="{C9756EA8-2078-4A5C-98CB-042D183E7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04 / 06</a:t>
            </a:r>
          </a:p>
        </p:txBody>
      </p:sp>
      <p:sp>
        <p:nvSpPr>
          <p:cNvPr id="4" name="text-140">
            <a:extLst xmlns:a="http://schemas.openxmlformats.org/drawingml/2006/main">
              <a:ext uri="{FF2B5EF4-FFF2-40B4-BE49-F238E27FC236}">
                <a16:creationId xmlns:a16="http://schemas.microsoft.com/office/drawing/2014/main" id="{EF8111DE-A994-461D-A1AE-46FA0DB23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Le français mérite des outils précis</a:t>
            </a:r>
          </a:p>
        </p:txBody>
      </p:sp>
      <p:sp>
        <p:nvSpPr>
          <p:cNvPr id="5" name="text-141">
            <a:extLst xmlns:a="http://schemas.openxmlformats.org/drawingml/2006/main">
              <a:ext uri="{FF2B5EF4-FFF2-40B4-BE49-F238E27FC236}">
                <a16:creationId xmlns:a16="http://schemas.microsoft.com/office/drawing/2014/main" id="{43163461-FF35-4BE3-B259-B864F54F4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Fransızcaya özgü laboratuvar  ·  A French-specific language lab</a:t>
            </a:r>
          </a:p>
        </p:txBody>
      </p:sp>
      <p:sp>
        <p:nvSpPr>
          <p:cNvPr id="6" name="box-142">
            <a:extLst xmlns:a="http://schemas.openxmlformats.org/drawingml/2006/main">
              <a:ext uri="{FF2B5EF4-FFF2-40B4-BE49-F238E27FC236}">
                <a16:creationId xmlns:a16="http://schemas.microsoft.com/office/drawing/2014/main" id="{A15BDFFD-6498-4322-9780-2E001ED75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288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7" name="text-143">
            <a:extLst xmlns:a="http://schemas.openxmlformats.org/drawingml/2006/main">
              <a:ext uri="{FF2B5EF4-FFF2-40B4-BE49-F238E27FC236}">
                <a16:creationId xmlns:a16="http://schemas.microsoft.com/office/drawing/2014/main" id="{72308B1C-B09A-4D67-BC9E-F06C3A7B3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384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l’école · les écoles</a:t>
            </a:r>
          </a:p>
        </p:txBody>
      </p:sp>
      <p:sp>
        <p:nvSpPr>
          <p:cNvPr id="8" name="text-144">
            <a:extLst xmlns:a="http://schemas.openxmlformats.org/drawingml/2006/main">
              <a:ext uri="{FF2B5EF4-FFF2-40B4-BE49-F238E27FC236}">
                <a16:creationId xmlns:a16="http://schemas.microsoft.com/office/drawing/2014/main" id="{C15EB099-774A-42D8-97DB-B469BAB65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861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Artikel ve elision · articles and elision · articles et élision</a:t>
            </a:r>
          </a:p>
        </p:txBody>
      </p:sp>
      <p:sp>
        <p:nvSpPr>
          <p:cNvPr id="9" name="box-145">
            <a:extLst xmlns:a="http://schemas.openxmlformats.org/drawingml/2006/main">
              <a:ext uri="{FF2B5EF4-FFF2-40B4-BE49-F238E27FC236}">
                <a16:creationId xmlns:a16="http://schemas.microsoft.com/office/drawing/2014/main" id="{6C7E5C7E-9D64-427F-9C0C-C6A8F42CC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288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0" name="text-146">
            <a:extLst xmlns:a="http://schemas.openxmlformats.org/drawingml/2006/main">
              <a:ext uri="{FF2B5EF4-FFF2-40B4-BE49-F238E27FC236}">
                <a16:creationId xmlns:a16="http://schemas.microsoft.com/office/drawing/2014/main" id="{08A65BA3-3242-48EE-B2C4-931D75F5E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4384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é · è · ê · ç</a:t>
            </a:r>
          </a:p>
        </p:txBody>
      </p:sp>
      <p:sp>
        <p:nvSpPr>
          <p:cNvPr id="11" name="text-147">
            <a:extLst xmlns:a="http://schemas.openxmlformats.org/drawingml/2006/main">
              <a:ext uri="{FF2B5EF4-FFF2-40B4-BE49-F238E27FC236}">
                <a16:creationId xmlns:a16="http://schemas.microsoft.com/office/drawing/2014/main" id="{A5ACE380-2510-4C79-A7F6-889D01178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61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Aksan araması kontrollü · controlled accent search · recherche d’accents contrôlée</a:t>
            </a:r>
          </a:p>
        </p:txBody>
      </p:sp>
      <p:sp>
        <p:nvSpPr>
          <p:cNvPr id="12" name="box-148">
            <a:extLst xmlns:a="http://schemas.openxmlformats.org/drawingml/2006/main">
              <a:ext uri="{FF2B5EF4-FFF2-40B4-BE49-F238E27FC236}">
                <a16:creationId xmlns:a16="http://schemas.microsoft.com/office/drawing/2014/main" id="{259D98CF-4F5D-44BE-98AB-E244EFC1B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957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3" name="text-149">
            <a:extLst xmlns:a="http://schemas.openxmlformats.org/drawingml/2006/main">
              <a:ext uri="{FF2B5EF4-FFF2-40B4-BE49-F238E27FC236}">
                <a16:creationId xmlns:a16="http://schemas.microsoft.com/office/drawing/2014/main" id="{9C38C09E-0EA5-4C9A-BB32-B7961629B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cœur · sœur · œuvre</a:t>
            </a:r>
          </a:p>
        </p:txBody>
      </p:sp>
      <p:sp>
        <p:nvSpPr>
          <p:cNvPr id="14" name="text-150">
            <a:extLst xmlns:a="http://schemas.openxmlformats.org/drawingml/2006/main">
              <a:ext uri="{FF2B5EF4-FFF2-40B4-BE49-F238E27FC236}">
                <a16:creationId xmlns:a16="http://schemas.microsoft.com/office/drawing/2014/main" id="{DEB329FF-ECDA-4D71-8FA6-40254D42E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œ aramada esnek, yanıtta kesin · flexible search, strict answer · recherche souple, réponse exacte</a:t>
            </a:r>
          </a:p>
        </p:txBody>
      </p:sp>
      <p:sp>
        <p:nvSpPr>
          <p:cNvPr id="15" name="box-151">
            <a:extLst xmlns:a="http://schemas.openxmlformats.org/drawingml/2006/main">
              <a:ext uri="{FF2B5EF4-FFF2-40B4-BE49-F238E27FC236}">
                <a16:creationId xmlns:a16="http://schemas.microsoft.com/office/drawing/2014/main" id="{B23BED54-D622-42A0-9BE2-6E625AFD9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0957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text-152">
            <a:extLst xmlns:a="http://schemas.openxmlformats.org/drawingml/2006/main">
              <a:ext uri="{FF2B5EF4-FFF2-40B4-BE49-F238E27FC236}">
                <a16:creationId xmlns:a16="http://schemas.microsoft.com/office/drawing/2014/main" id="{4FEE9D18-DC96-44EE-AE0E-5CDDB19D6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053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yeux → l’œil (m)</a:t>
            </a:r>
          </a:p>
        </p:txBody>
      </p:sp>
      <p:sp>
        <p:nvSpPr>
          <p:cNvPr id="17" name="text-153">
            <a:extLst xmlns:a="http://schemas.openxmlformats.org/drawingml/2006/main">
              <a:ext uri="{FF2B5EF4-FFF2-40B4-BE49-F238E27FC236}">
                <a16:creationId xmlns:a16="http://schemas.microsoft.com/office/drawing/2014/main" id="{2BA86DAE-9913-4CE2-A107-EF23851B6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530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Sözlük FR↔EN↔TR yön seçimli · dictionary FR/EN/TR with direction switch · dictionnaire FR/EN/TR à sens réglable</a:t>
            </a:r>
          </a:p>
        </p:txBody>
      </p:sp>
    </p:spTree>
    <p:extLst>
      <p:ext uri="{BB962C8B-B14F-4D97-AF65-F5344CB8AC3E}">
        <p14:creationId xmlns:p14="http://schemas.microsoft.com/office/powerpoint/2010/main" val="109816837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box-154">
            <a:extLst xmlns:a="http://schemas.openxmlformats.org/drawingml/2006/main">
              <a:ext uri="{FF2B5EF4-FFF2-40B4-BE49-F238E27FC236}">
                <a16:creationId xmlns:a16="http://schemas.microsoft.com/office/drawing/2014/main" id="{E1F6B360-AE18-4A78-8B35-7D8BE87CB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2" name="text-155">
            <a:extLst xmlns:a="http://schemas.openxmlformats.org/drawingml/2006/main">
              <a:ext uri="{FF2B5EF4-FFF2-40B4-BE49-F238E27FC236}">
                <a16:creationId xmlns:a16="http://schemas.microsoft.com/office/drawing/2014/main" id="{F9A1D0EC-1E60-429F-B5EE-15F1F9D20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FRENCH COURSE AI</a:t>
            </a:r>
          </a:p>
        </p:txBody>
      </p:sp>
      <p:sp>
        <p:nvSpPr>
          <p:cNvPr id="3" name="text-156">
            <a:extLst xmlns:a="http://schemas.openxmlformats.org/drawingml/2006/main">
              <a:ext uri="{FF2B5EF4-FFF2-40B4-BE49-F238E27FC236}">
                <a16:creationId xmlns:a16="http://schemas.microsoft.com/office/drawing/2014/main" id="{F35F6FEC-77F7-4A70-8D52-656459700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05 / 06</a:t>
            </a:r>
          </a:p>
        </p:txBody>
      </p:sp>
      <p:sp>
        <p:nvSpPr>
          <p:cNvPr id="4" name="text-157">
            <a:extLst xmlns:a="http://schemas.openxmlformats.org/drawingml/2006/main">
              <a:ext uri="{FF2B5EF4-FFF2-40B4-BE49-F238E27FC236}">
                <a16:creationId xmlns:a16="http://schemas.microsoft.com/office/drawing/2014/main" id="{9F3A1E72-0F18-446F-A5B5-D56324C78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04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AI isteğe bağlı; mahremiyet varsayılan</a:t>
            </a:r>
          </a:p>
        </p:txBody>
      </p:sp>
      <p:sp>
        <p:nvSpPr>
          <p:cNvPr id="5" name="text-158">
            <a:extLst xmlns:a="http://schemas.openxmlformats.org/drawingml/2006/main">
              <a:ext uri="{FF2B5EF4-FFF2-40B4-BE49-F238E27FC236}">
                <a16:creationId xmlns:a16="http://schemas.microsoft.com/office/drawing/2014/main" id="{9A5BBBF5-7327-4945-A343-3DB4A8146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AI is optional; privacy is the default  ·  L’IA est facultative; la confidentialité est la règle</a:t>
            </a:r>
          </a:p>
        </p:txBody>
      </p:sp>
      <p:sp>
        <p:nvSpPr>
          <p:cNvPr id="6" name="box-159">
            <a:extLst xmlns:a="http://schemas.openxmlformats.org/drawingml/2006/main">
              <a:ext uri="{FF2B5EF4-FFF2-40B4-BE49-F238E27FC236}">
                <a16:creationId xmlns:a16="http://schemas.microsoft.com/office/drawing/2014/main" id="{E475A90E-FB97-49F5-8E91-00BAF9F89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14700"/>
            <a:ext cx="1000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7" name="dot-160">
            <a:extLst xmlns:a="http://schemas.openxmlformats.org/drawingml/2006/main">
              <a:ext uri="{FF2B5EF4-FFF2-40B4-BE49-F238E27FC236}">
                <a16:creationId xmlns:a16="http://schemas.microsoft.com/office/drawing/2014/main" id="{7C134415-CE4F-4B83-9EF5-7C8838987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99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61">
            <a:extLst xmlns:a="http://schemas.openxmlformats.org/drawingml/2006/main">
              <a:ext uri="{FF2B5EF4-FFF2-40B4-BE49-F238E27FC236}">
                <a16:creationId xmlns:a16="http://schemas.microsoft.com/office/drawing/2014/main" id="{E3F645B5-6B4A-4314-8940-FC8F58C3D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01 · CONTEXT</a:t>
            </a:r>
          </a:p>
        </p:txBody>
      </p:sp>
      <p:sp>
        <p:nvSpPr>
          <p:cNvPr id="9" name="text-162">
            <a:extLst xmlns:a="http://schemas.openxmlformats.org/drawingml/2006/main">
              <a:ext uri="{FF2B5EF4-FFF2-40B4-BE49-F238E27FC236}">
                <a16:creationId xmlns:a16="http://schemas.microsoft.com/office/drawing/2014/main" id="{DF1D03DA-4793-47AA-B466-BA50B4EAF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Öğrenci bağlamı</a:t>
            </a:r>
          </a:p>
        </p:txBody>
      </p:sp>
      <p:sp>
        <p:nvSpPr>
          <p:cNvPr id="10" name="text-163">
            <a:extLst xmlns:a="http://schemas.openxmlformats.org/drawingml/2006/main">
              <a:ext uri="{FF2B5EF4-FFF2-40B4-BE49-F238E27FC236}">
                <a16:creationId xmlns:a16="http://schemas.microsoft.com/office/drawing/2014/main" id="{066F1501-118C-40C2-8636-6D7E15081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Seviye, hedef ve etkin çalışma uygulama içinde derlenir.</a:t>
            </a:r>
          </a:p>
        </p:txBody>
      </p:sp>
      <p:sp>
        <p:nvSpPr>
          <p:cNvPr id="11" name="dot-164">
            <a:extLst xmlns:a="http://schemas.openxmlformats.org/drawingml/2006/main">
              <a:ext uri="{FF2B5EF4-FFF2-40B4-BE49-F238E27FC236}">
                <a16:creationId xmlns:a16="http://schemas.microsoft.com/office/drawing/2014/main" id="{C70A4765-FDC0-485A-8860-5B2F633A2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2099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165">
            <a:extLst xmlns:a="http://schemas.openxmlformats.org/drawingml/2006/main">
              <a:ext uri="{FF2B5EF4-FFF2-40B4-BE49-F238E27FC236}">
                <a16:creationId xmlns:a16="http://schemas.microsoft.com/office/drawing/2014/main" id="{03357B3A-BBC8-46EC-A701-4D2769A17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02 · LOCAL MODEL</a:t>
            </a:r>
          </a:p>
        </p:txBody>
      </p:sp>
      <p:sp>
        <p:nvSpPr>
          <p:cNvPr id="13" name="text-166">
            <a:extLst xmlns:a="http://schemas.openxmlformats.org/drawingml/2006/main">
              <a:ext uri="{FF2B5EF4-FFF2-40B4-BE49-F238E27FC236}">
                <a16:creationId xmlns:a16="http://schemas.microsoft.com/office/drawing/2014/main" id="{EA749CE8-BD48-4EF7-ACB0-3C35463B9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LM Studio / alt. uç</a:t>
            </a:r>
          </a:p>
        </p:txBody>
      </p:sp>
      <p:sp>
        <p:nvSpPr>
          <p:cNvPr id="14" name="text-167">
            <a:extLst xmlns:a="http://schemas.openxmlformats.org/drawingml/2006/main">
              <a:ext uri="{FF2B5EF4-FFF2-40B4-BE49-F238E27FC236}">
                <a16:creationId xmlns:a16="http://schemas.microsoft.com/office/drawing/2014/main" id="{1C1215DB-3DC7-4B67-925F-27AA25515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3815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Önce yerel LM Studio; isteğe bağlı NVIDIA NIM veya özel OpenAI uyumlu uç. API anahtarı diske yazılmaz.</a:t>
            </a:r>
          </a:p>
        </p:txBody>
      </p:sp>
      <p:sp>
        <p:nvSpPr>
          <p:cNvPr id="15" name="dot-168">
            <a:extLst xmlns:a="http://schemas.openxmlformats.org/drawingml/2006/main">
              <a:ext uri="{FF2B5EF4-FFF2-40B4-BE49-F238E27FC236}">
                <a16:creationId xmlns:a16="http://schemas.microsoft.com/office/drawing/2014/main" id="{887965AE-5F16-4A3F-AD8A-CB81617B6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2099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169">
            <a:extLst xmlns:a="http://schemas.openxmlformats.org/drawingml/2006/main">
              <a:ext uri="{FF2B5EF4-FFF2-40B4-BE49-F238E27FC236}">
                <a16:creationId xmlns:a16="http://schemas.microsoft.com/office/drawing/2014/main" id="{432832C1-0A64-480B-B3C5-3BC169040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03 · RECORD</a:t>
            </a:r>
          </a:p>
        </p:txBody>
      </p:sp>
      <p:sp>
        <p:nvSpPr>
          <p:cNvPr id="17" name="text-170">
            <a:extLst xmlns:a="http://schemas.openxmlformats.org/drawingml/2006/main">
              <a:ext uri="{FF2B5EF4-FFF2-40B4-BE49-F238E27FC236}">
                <a16:creationId xmlns:a16="http://schemas.microsoft.com/office/drawing/2014/main" id="{AC21ADA9-87D3-4C3B-A18D-800260850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Güvenli kayıt</a:t>
            </a:r>
          </a:p>
        </p:txBody>
      </p:sp>
      <p:sp>
        <p:nvSpPr>
          <p:cNvPr id="18" name="text-171">
            <a:extLst xmlns:a="http://schemas.openxmlformats.org/drawingml/2006/main">
              <a:ext uri="{FF2B5EF4-FFF2-40B4-BE49-F238E27FC236}">
                <a16:creationId xmlns:a16="http://schemas.microsoft.com/office/drawing/2014/main" id="{2C312B1C-2689-4F12-8C17-0A035F539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3815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Yalnızca süre, token sayısı ve durum tutulur; konuşma metni tutulmaz.</a:t>
            </a:r>
          </a:p>
        </p:txBody>
      </p:sp>
      <p:sp>
        <p:nvSpPr>
          <p:cNvPr id="19" name="box-172">
            <a:extLst xmlns:a="http://schemas.openxmlformats.org/drawingml/2006/main">
              <a:ext uri="{FF2B5EF4-FFF2-40B4-BE49-F238E27FC236}">
                <a16:creationId xmlns:a16="http://schemas.microsoft.com/office/drawing/2014/main" id="{675B809B-3A73-407A-8888-0E4C240A2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72150"/>
            <a:ext cx="10668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5E5"/>
          </a:solidFill>
          <a:ln xmlns:a="http://schemas.openxmlformats.org/drawingml/2006/main" w="0">
            <a:solidFill>
              <a:srgbClr val="FFE5E5"/>
            </a:solidFill>
            <a:prstDash val="solid"/>
          </a:ln>
        </p:spPr>
      </p:sp>
      <p:sp>
        <p:nvSpPr>
          <p:cNvPr id="20" name="text-173">
            <a:extLst xmlns:a="http://schemas.openxmlformats.org/drawingml/2006/main">
              <a:ext uri="{FF2B5EF4-FFF2-40B4-BE49-F238E27FC236}">
                <a16:creationId xmlns:a16="http://schemas.microsoft.com/office/drawing/2014/main" id="{7BFB0F8F-9BE6-49AE-868B-E6B905BC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8769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Çevrimdışı çekirdek / Offline core / cœur hors ligne — AI kapalıyken de tüm temel çalışma akışları kullanılabilir.</a:t>
            </a:r>
          </a:p>
        </p:txBody>
      </p:sp>
    </p:spTree>
    <p:extLst>
      <p:ext uri="{BB962C8B-B14F-4D97-AF65-F5344CB8AC3E}">
        <p14:creationId xmlns:p14="http://schemas.microsoft.com/office/powerpoint/2010/main" val="213852739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ox-174">
            <a:extLst xmlns:a="http://schemas.openxmlformats.org/drawingml/2006/main">
              <a:ext uri="{FF2B5EF4-FFF2-40B4-BE49-F238E27FC236}">
                <a16:creationId xmlns:a16="http://schemas.microsoft.com/office/drawing/2014/main" id="{7C03D1C4-0459-4B1A-A42C-2F9F62134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2" name="text-175">
            <a:extLst xmlns:a="http://schemas.openxmlformats.org/drawingml/2006/main">
              <a:ext uri="{FF2B5EF4-FFF2-40B4-BE49-F238E27FC236}">
                <a16:creationId xmlns:a16="http://schemas.microsoft.com/office/drawing/2014/main" id="{C54311EC-7182-433E-9DCC-86F17391F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72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TESLİME HAZIR · READY TO DELIVER · PRÊT À LIVRER</a:t>
            </a:r>
          </a:p>
        </p:txBody>
      </p:sp>
      <p:sp>
        <p:nvSpPr>
          <p:cNvPr id="3" name="text-176">
            <a:extLst xmlns:a="http://schemas.openxmlformats.org/drawingml/2006/main">
              <a:ext uri="{FF2B5EF4-FFF2-40B4-BE49-F238E27FC236}">
                <a16:creationId xmlns:a16="http://schemas.microsoft.com/office/drawing/2014/main" id="{11002338-B945-415A-8E2D-169EF953E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Hazır.</a:t>
            </a:r>
          </a:p>
        </p:txBody>
      </p:sp>
      <p:sp>
        <p:nvSpPr>
          <p:cNvPr id="4" name="text-177">
            <a:extLst xmlns:a="http://schemas.openxmlformats.org/drawingml/2006/main">
              <a:ext uri="{FF2B5EF4-FFF2-40B4-BE49-F238E27FC236}">
                <a16:creationId xmlns:a16="http://schemas.microsoft.com/office/drawing/2014/main" id="{871CBDBD-5C14-461D-B70A-3F14ED8B1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67640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Ready.</a:t>
            </a:r>
          </a:p>
        </p:txBody>
      </p:sp>
      <p:sp>
        <p:nvSpPr>
          <p:cNvPr id="5" name="text-178">
            <a:extLst xmlns:a="http://schemas.openxmlformats.org/drawingml/2006/main">
              <a:ext uri="{FF2B5EF4-FFF2-40B4-BE49-F238E27FC236}">
                <a16:creationId xmlns:a16="http://schemas.microsoft.com/office/drawing/2014/main" id="{F49FB5BD-EBB3-4E08-AD3F-3E5CB235C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676400"/>
            <a:ext cx="285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Prêt.</a:t>
            </a:r>
          </a:p>
        </p:txBody>
      </p:sp>
      <p:sp>
        <p:nvSpPr>
          <p:cNvPr id="6" name="text-179">
            <a:extLst xmlns:a="http://schemas.openxmlformats.org/drawingml/2006/main">
              <a:ext uri="{FF2B5EF4-FFF2-40B4-BE49-F238E27FC236}">
                <a16:creationId xmlns:a16="http://schemas.microsoft.com/office/drawing/2014/main" id="{4A92FC5F-4083-42C9-B80A-1086BF9BE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24150"/>
            <a:ext cx="885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Bağımsız Windows uygulaması, belgeler, testler ve sunum tek pakette.</a:t>
            </a:r>
          </a:p>
        </p:txBody>
      </p:sp>
      <p:sp>
        <p:nvSpPr>
          <p:cNvPr id="7" name="text-180">
            <a:extLst xmlns:a="http://schemas.openxmlformats.org/drawingml/2006/main">
              <a:ext uri="{FF2B5EF4-FFF2-40B4-BE49-F238E27FC236}">
                <a16:creationId xmlns:a16="http://schemas.microsoft.com/office/drawing/2014/main" id="{0D3C8851-4414-4A71-A5BA-D0A875DAE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814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162</a:t>
            </a:r>
          </a:p>
        </p:txBody>
      </p:sp>
      <p:sp>
        <p:nvSpPr>
          <p:cNvPr id="8" name="text-181">
            <a:extLst xmlns:a="http://schemas.openxmlformats.org/drawingml/2006/main">
              <a:ext uri="{FF2B5EF4-FFF2-40B4-BE49-F238E27FC236}">
                <a16:creationId xmlns:a16="http://schemas.microsoft.com/office/drawing/2014/main" id="{77BB4A10-A209-4363-8254-5CA806EB5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9814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90 / 90</a:t>
            </a:r>
          </a:p>
        </p:txBody>
      </p:sp>
      <p:sp>
        <p:nvSpPr>
          <p:cNvPr id="9" name="text-182">
            <a:extLst xmlns:a="http://schemas.openxmlformats.org/drawingml/2006/main">
              <a:ext uri="{FF2B5EF4-FFF2-40B4-BE49-F238E27FC236}">
                <a16:creationId xmlns:a16="http://schemas.microsoft.com/office/drawing/2014/main" id="{F9ADD1DB-BCF2-4F9C-840E-A603BA9E6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81450"/>
            <a:ext cx="152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0" name="text-183">
            <a:extLst xmlns:a="http://schemas.openxmlformats.org/drawingml/2006/main">
              <a:ext uri="{FF2B5EF4-FFF2-40B4-BE49-F238E27FC236}">
                <a16:creationId xmlns:a16="http://schemas.microsoft.com/office/drawing/2014/main" id="{1E9727FA-E4E9-46DC-90F7-44A441551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672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benzersiz A1 kelime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unique A1 words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mots A1 uniques</a:t>
            </a:r>
          </a:p>
        </p:txBody>
      </p:sp>
      <p:sp>
        <p:nvSpPr>
          <p:cNvPr id="11" name="text-184">
            <a:extLst xmlns:a="http://schemas.openxmlformats.org/drawingml/2006/main">
              <a:ext uri="{FF2B5EF4-FFF2-40B4-BE49-F238E27FC236}">
                <a16:creationId xmlns:a16="http://schemas.microsoft.com/office/drawing/2014/main" id="{CEEEB783-FAEB-41C9-B9B0-F48255062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6672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otomatik test geçti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automated tests passed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tests automatisés réussis</a:t>
            </a:r>
          </a:p>
        </p:txBody>
      </p:sp>
      <p:sp>
        <p:nvSpPr>
          <p:cNvPr id="12" name="text-185">
            <a:extLst xmlns:a="http://schemas.openxmlformats.org/drawingml/2006/main">
              <a:ext uri="{FF2B5EF4-FFF2-40B4-BE49-F238E27FC236}">
                <a16:creationId xmlns:a16="http://schemas.microsoft.com/office/drawing/2014/main" id="{2003E75B-0C60-4867-A9D0-4188DC053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667250"/>
            <a:ext cx="2095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öğrenme alanı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learning areas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espaces d’apprentissage</a:t>
            </a:r>
          </a:p>
        </p:txBody>
      </p:sp>
      <p:sp>
        <p:nvSpPr>
          <p:cNvPr id="13" name="box-186">
            <a:extLst xmlns:a="http://schemas.openxmlformats.org/drawingml/2006/main">
              <a:ext uri="{FF2B5EF4-FFF2-40B4-BE49-F238E27FC236}">
                <a16:creationId xmlns:a16="http://schemas.microsoft.com/office/drawing/2014/main" id="{241D796C-F329-476B-A8C8-57B6F7FCB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14" name="text-187">
            <a:extLst xmlns:a="http://schemas.openxmlformats.org/drawingml/2006/main">
              <a:ext uri="{FF2B5EF4-FFF2-40B4-BE49-F238E27FC236}">
                <a16:creationId xmlns:a16="http://schemas.microsoft.com/office/drawing/2014/main" id="{FD72346C-155D-4427-AEA1-0543A08A4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EXE + source + docs + private GitHub + trilingual deck · EXE + kaynak + belgeler + GitHub privé + sunum trilingue</a:t>
            </a:r>
          </a:p>
        </p:txBody>
      </p:sp>
      <p:sp>
        <p:nvSpPr>
          <p:cNvPr id="15" name="text-188">
            <a:extLst xmlns:a="http://schemas.openxmlformats.org/drawingml/2006/main">
              <a:ext uri="{FF2B5EF4-FFF2-40B4-BE49-F238E27FC236}">
                <a16:creationId xmlns:a16="http://schemas.microsoft.com/office/drawing/2014/main" id="{B7C9C7EB-0F5F-402E-AFD8-21A9DEEA1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6265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Windows 10/11 (x64) + macOS (Apple Silicon) — İndirme: github.com/Azizsekerdil/FrenchCourseAI/releases (v1.2.1) · (özel repo)</a:t>
            </a:r>
          </a:p>
        </p:txBody>
      </p:sp>
      <p:sp>
        <p:nvSpPr>
          <p:cNvPr id="16" name="text-189">
            <a:extLst xmlns:a="http://schemas.openxmlformats.org/drawingml/2006/main">
              <a:ext uri="{FF2B5EF4-FFF2-40B4-BE49-F238E27FC236}">
                <a16:creationId xmlns:a16="http://schemas.microsoft.com/office/drawing/2014/main" id="{130D5899-3F70-4B1E-8AD7-5ED584DD9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Windows 10/11 (x64) &amp; macOS (Apple Silicon) — Download: GitHub Releases (v1.2.1)</a:t>
            </a:r>
          </a:p>
        </p:txBody>
      </p:sp>
      <p:sp>
        <p:nvSpPr>
          <p:cNvPr id="17" name="text-190">
            <a:extLst xmlns:a="http://schemas.openxmlformats.org/drawingml/2006/main">
              <a:ext uri="{FF2B5EF4-FFF2-40B4-BE49-F238E27FC236}">
                <a16:creationId xmlns:a16="http://schemas.microsoft.com/office/drawing/2014/main" id="{3EF7474F-AEEA-46BF-BB3F-1F29037F8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macOS paketi Apple Silicon (arm64) içindir ve notarize edilmemiştir; ilk açılışta sağ tık → Aç. / Not notarized; first launch: right-click → Open.</a:t>
            </a:r>
          </a:p>
        </p:txBody>
      </p:sp>
    </p:spTree>
    <p:extLst>
      <p:ext uri="{BB962C8B-B14F-4D97-AF65-F5344CB8AC3E}">
        <p14:creationId xmlns:p14="http://schemas.microsoft.com/office/powerpoint/2010/main" val="30716757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2026-09-08T05:05:31.0360000Z</dcterms:created>
  <dcterms:modified xsi:type="dcterms:W3CDTF">2026-09-08T05:05:31.0360000Z</dcterms:modified>
</coreProperties>
</file>