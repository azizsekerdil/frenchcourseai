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b78d748c63f45d1" /><Relationship Type="http://schemas.openxmlformats.org/officeDocument/2006/relationships/extended-properties" Target="/docProps/app.xml" Id="Rc038af47846e4e76" /><Relationship Type="http://schemas.openxmlformats.org/officeDocument/2006/relationships/officeDocument" Target="/ppt/presentation.xml" Id="R9fe82a791234459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aafaf07d7d54e61"/>
  </p:sldMasterIdLst>
  <p:notesMasterIdLst>
    <p:notesMasterId xmlns:r="http://schemas.openxmlformats.org/officeDocument/2006/relationships" r:id="R0e34adfa64ab47de"/>
  </p:notesMasterIdLst>
  <p:sldIdLst>
    <p:sldId xmlns:r="http://schemas.openxmlformats.org/officeDocument/2006/relationships" id="256" r:id="Rbccd80f826694e52"/>
    <p:sldId xmlns:r="http://schemas.openxmlformats.org/officeDocument/2006/relationships" id="257" r:id="Rfe81daac5efc4698"/>
    <p:sldId xmlns:r="http://schemas.openxmlformats.org/officeDocument/2006/relationships" id="258" r:id="Rf7bd468dbfce4bf9"/>
    <p:sldId xmlns:r="http://schemas.openxmlformats.org/officeDocument/2006/relationships" id="259" r:id="Ree57240259bc4489"/>
    <p:sldId xmlns:r="http://schemas.openxmlformats.org/officeDocument/2006/relationships" id="260" r:id="Rb748d0cc1fed460b"/>
    <p:sldId xmlns:r="http://schemas.openxmlformats.org/officeDocument/2006/relationships" id="261" r:id="R841f7fefdcc24d2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5ba1676a0694bd0" /><Relationship Type="http://schemas.openxmlformats.org/officeDocument/2006/relationships/slideMaster" Target="/ppt/slideMasters/slideMaster1.xml" Id="R0aafaf07d7d54e61" /><Relationship Type="http://schemas.openxmlformats.org/officeDocument/2006/relationships/notesMaster" Target="/ppt/notesMasters/notesMaster1.xml" Id="R0e34adfa64ab47de" /><Relationship Type="http://schemas.openxmlformats.org/officeDocument/2006/relationships/presProps" Target="/ppt/presProps.xml" Id="R14736b5653a243d5" /><Relationship Type="http://schemas.openxmlformats.org/officeDocument/2006/relationships/tableStyles" Target="/ppt/tableStyles.xml" Id="R1ae982b150b549b9" /><Relationship Type="http://schemas.openxmlformats.org/officeDocument/2006/relationships/slide" Target="/ppt/slides/slide1.xml" Id="Rbccd80f826694e52" /><Relationship Type="http://schemas.openxmlformats.org/officeDocument/2006/relationships/slide" Target="/ppt/slides/slide2.xml" Id="Rfe81daac5efc4698" /><Relationship Type="http://schemas.openxmlformats.org/officeDocument/2006/relationships/slide" Target="/ppt/slides/slide3.xml" Id="Rf7bd468dbfce4bf9" /><Relationship Type="http://schemas.openxmlformats.org/officeDocument/2006/relationships/slide" Target="/ppt/slides/slide4.xml" Id="Ree57240259bc4489" /><Relationship Type="http://schemas.openxmlformats.org/officeDocument/2006/relationships/slide" Target="/ppt/slides/slide5.xml" Id="Rb748d0cc1fed460b" /><Relationship Type="http://schemas.openxmlformats.org/officeDocument/2006/relationships/slide" Target="/ppt/slides/slide6.xml" Id="R841f7fefdcc24d2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81a65d0dc0c4a8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3d9b9c8985a400f" /><Relationship Type="http://schemas.openxmlformats.org/officeDocument/2006/relationships/notesMaster" Target="/ppt/notesMasters/notesMaster1.xml" Id="R2fd05279e3db456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ed1590908c04b68" /><Relationship Type="http://schemas.openxmlformats.org/officeDocument/2006/relationships/notesMaster" Target="/ppt/notesMasters/notesMaster1.xml" Id="Re5b67645c49e4e2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f13dc5ffbc04df0" /><Relationship Type="http://schemas.openxmlformats.org/officeDocument/2006/relationships/notesMaster" Target="/ppt/notesMasters/notesMaster1.xml" Id="R2dc585e542d14f1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7cf668696754c90" /><Relationship Type="http://schemas.openxmlformats.org/officeDocument/2006/relationships/notesMaster" Target="/ppt/notesMasters/notesMaster1.xml" Id="R82259a55f258457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8d58f56c055415e" /><Relationship Type="http://schemas.openxmlformats.org/officeDocument/2006/relationships/notesMaster" Target="/ppt/notesMasters/notesMaster1.xml" Id="R5fe854b00ec046a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601999082a745b9" /><Relationship Type="http://schemas.openxmlformats.org/officeDocument/2006/relationships/notesMaster" Target="/ppt/notesMasters/notesMaster1.xml" Id="R5205cd80dca04c8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French Course AI overview.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Original icon generated for this project: D:/GE_FR/FrenchCourseAI/assets/app-final.png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a real screenshot captured from the packaged Windows executable.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Product screenshot: D:/GE_FR/FrenchCourseAI/docs/presentation/assets/french-course-ai-screenshot.jpg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Learning engine and openly licensed resource catalog.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https://en.wikibooks.org/wiki/French</a:t>
            </a:r>
          </a:p>
          <a:p xmlns:a="http://schemas.openxmlformats.org/drawingml/2006/main">
            <a:r>
              <a:t>- https://tatoeba.org/en/downloads</a:t>
            </a:r>
          </a:p>
          <a:p xmlns:a="http://schemas.openxmlformats.org/drawingml/2006/main">
            <a:r>
              <a:t>- https://librivox.org/pages/about-librivox/</a:t>
            </a:r>
          </a:p>
          <a:p xmlns:a="http://schemas.openxmlformats.org/drawingml/2006/main">
            <a:r>
              <a:t>- https://www.gutenberg.org/policy/permission.html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French Course AI language-specific lab examples.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Product seed data and tests in the local fca source tree.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optional AI path uses a local LM Studio endpoint. The token ledger stores usage metadata, not prompt or response text.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application source: fca/ai.py and fca/db.py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Delivery summary based on the packaged executable and automated test suite.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French Course AI local build output</a:t>
            </a:r>
          </a:p>
          <a:p xmlns:a="http://schemas.openxmlformats.org/drawingml/2006/main">
            <a:r>
              <a:t>- French Course AI pytest results</a:t>
            </a:r>
          </a:p>
          <a:p xmlns:a="http://schemas.openxmlformats.org/drawingml/2006/main">
            <a:r>
              <a:t>- https://github.com/Azizsekerdil/FrenchCourseAI/releases/tag/v1.0.0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c02891e373a4aa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85c5360d69f4594" /><Relationship Type="http://schemas.openxmlformats.org/officeDocument/2006/relationships/slideLayout" Target="/ppt/slideLayouts/slideLayout1.xml" Id="R1555e332b53044f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555e332b53044f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fbb03906794eb3" /><Relationship Type="http://schemas.openxmlformats.org/officeDocument/2006/relationships/image" Target="/ppt/media/image.png" Id="Re68cfc80f6d941d2" /><Relationship Type="http://schemas.openxmlformats.org/officeDocument/2006/relationships/notesSlide" Target="/ppt/notesSlides/notesSlide1.xml" Id="R0f85f8592f2f4ea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28b45d823240b1" /><Relationship Type="http://schemas.openxmlformats.org/officeDocument/2006/relationships/image" Target="/ppt/media/image.jpeg" Id="R3c3c49f0bf784bea" /><Relationship Type="http://schemas.openxmlformats.org/officeDocument/2006/relationships/notesSlide" Target="/ppt/notesSlides/notesSlide2.xml" Id="R05af61af2cd8488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1c14988ba7439d" /><Relationship Type="http://schemas.openxmlformats.org/officeDocument/2006/relationships/notesSlide" Target="/ppt/notesSlides/notesSlide3.xml" Id="R574eb6a46e9d4e2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83dcad00934477" /><Relationship Type="http://schemas.openxmlformats.org/officeDocument/2006/relationships/notesSlide" Target="/ppt/notesSlides/notesSlide4.xml" Id="R914e2ca01e734b2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0763cf608345f5" /><Relationship Type="http://schemas.openxmlformats.org/officeDocument/2006/relationships/notesSlide" Target="/ppt/notesSlides/notesSlide5.xml" Id="Ra7d9e9a35695466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dd57c141074376" /><Relationship Type="http://schemas.openxmlformats.org/officeDocument/2006/relationships/notesSlide" Target="/ppt/notesSlides/notesSlide6.xml" Id="Rbc01baf182ac410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box-96">
            <a:extLst xmlns:a="http://schemas.openxmlformats.org/drawingml/2006/main">
              <a:ext uri="{FF2B5EF4-FFF2-40B4-BE49-F238E27FC236}">
                <a16:creationId xmlns:a16="http://schemas.microsoft.com/office/drawing/2014/main" id="{18F29EAB-4237-4C4D-9636-291855692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668"/>
          </a:solidFill>
          <a:ln xmlns:a="http://schemas.openxmlformats.org/drawingml/2006/main" w="0">
            <a:solidFill>
              <a:srgbClr val="FF6668"/>
            </a:solidFill>
            <a:prstDash val="solid"/>
          </a:ln>
        </p:spPr>
      </p:sp>
      <p:sp>
        <p:nvSpPr>
          <p:cNvPr id="2" name="text-97">
            <a:extLst xmlns:a="http://schemas.openxmlformats.org/drawingml/2006/main">
              <a:ext uri="{FF2B5EF4-FFF2-40B4-BE49-F238E27FC236}">
                <a16:creationId xmlns:a16="http://schemas.microsoft.com/office/drawing/2014/main" id="{0BD50280-6787-419E-B3A6-D891E1130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FRENCH COURSE AI</a:t>
            </a:r>
          </a:p>
        </p:txBody>
      </p:sp>
      <p:sp>
        <p:nvSpPr>
          <p:cNvPr id="3" name="text-98">
            <a:extLst xmlns:a="http://schemas.openxmlformats.org/drawingml/2006/main">
              <a:ext uri="{FF2B5EF4-FFF2-40B4-BE49-F238E27FC236}">
                <a16:creationId xmlns:a16="http://schemas.microsoft.com/office/drawing/2014/main" id="{5C1A09C7-B03C-49F0-8C85-D1103160D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01 / 06</a:t>
            </a:r>
          </a:p>
        </p:txBody>
      </p:sp>
      <p:sp>
        <p:nvSpPr>
          <p:cNvPr id="4" name="text-99">
            <a:extLst xmlns:a="http://schemas.openxmlformats.org/drawingml/2006/main">
              <a:ext uri="{FF2B5EF4-FFF2-40B4-BE49-F238E27FC236}">
                <a16:creationId xmlns:a16="http://schemas.microsoft.com/office/drawing/2014/main" id="{6A80C699-3C50-470F-BB57-4F444E1D6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2390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OFFLINE-FIRST WINDOWS LANGUAGE LEARNING</a:t>
            </a:r>
          </a:p>
        </p:txBody>
      </p:sp>
      <p:sp>
        <p:nvSpPr>
          <p:cNvPr id="5" name="text-100">
            <a:extLst xmlns:a="http://schemas.openxmlformats.org/drawingml/2006/main">
              <a:ext uri="{FF2B5EF4-FFF2-40B4-BE49-F238E27FC236}">
                <a16:creationId xmlns:a16="http://schemas.microsoft.com/office/drawing/2014/main" id="{28E9F89A-F3C3-4C19-82DC-48F1139AB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19250"/>
            <a:ext cx="8191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5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French Course AI</a:t>
            </a:r>
          </a:p>
        </p:txBody>
      </p:sp>
      <p:sp>
        <p:nvSpPr>
          <p:cNvPr id="6" name="text-101">
            <a:extLst xmlns:a="http://schemas.openxmlformats.org/drawingml/2006/main">
              <a:ext uri="{FF2B5EF4-FFF2-40B4-BE49-F238E27FC236}">
                <a16:creationId xmlns:a16="http://schemas.microsoft.com/office/drawing/2014/main" id="{D54E8AF7-4E78-4D26-8A20-90C74A16F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43200"/>
            <a:ext cx="7048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Türkçe · English · Français</a:t>
            </a:r>
          </a:p>
        </p:txBody>
      </p:sp>
      <p:sp>
        <p:nvSpPr>
          <p:cNvPr id="7" name="text-102">
            <a:extLst xmlns:a="http://schemas.openxmlformats.org/drawingml/2006/main">
              <a:ext uri="{FF2B5EF4-FFF2-40B4-BE49-F238E27FC236}">
                <a16:creationId xmlns:a16="http://schemas.microsoft.com/office/drawing/2014/main" id="{AB4595D3-AAFE-4C41-8B31-C09F57456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191000"/>
            <a:ext cx="666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Yerel, ölçülebilir Fransızca öğrenimi</a:t>
            </a:r>
          </a:p>
        </p:txBody>
      </p:sp>
      <p:sp>
        <p:nvSpPr>
          <p:cNvPr id="8" name="text-103">
            <a:extLst xmlns:a="http://schemas.openxmlformats.org/drawingml/2006/main">
              <a:ext uri="{FF2B5EF4-FFF2-40B4-BE49-F238E27FC236}">
                <a16:creationId xmlns:a16="http://schemas.microsoft.com/office/drawing/2014/main" id="{690671CB-A6D3-4774-A1F7-5C76F8774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910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Local, measurable French learning</a:t>
            </a:r>
          </a:p>
        </p:txBody>
      </p:sp>
      <p:sp>
        <p:nvSpPr>
          <p:cNvPr id="9" name="text-104">
            <a:extLst xmlns:a="http://schemas.openxmlformats.org/drawingml/2006/main">
              <a:ext uri="{FF2B5EF4-FFF2-40B4-BE49-F238E27FC236}">
                <a16:creationId xmlns:a16="http://schemas.microsoft.com/office/drawing/2014/main" id="{7C9D269E-C172-4588-895D-E8F61DFC9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Un apprentissage local et mesurable du français</a:t>
            </a:r>
          </a:p>
        </p:txBody>
      </p:sp>
      <p:sp>
        <p:nvSpPr>
          <p:cNvPr id="10" name="box-105">
            <a:extLst xmlns:a="http://schemas.openxmlformats.org/drawingml/2006/main">
              <a:ext uri="{FF2B5EF4-FFF2-40B4-BE49-F238E27FC236}">
                <a16:creationId xmlns:a16="http://schemas.microsoft.com/office/drawing/2014/main" id="{5B26C8B8-C4FE-4042-A49D-1B1083CB9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314450"/>
            <a:ext cx="2381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5E5"/>
          </a:solidFill>
          <a:ln xmlns:a="http://schemas.openxmlformats.org/drawingml/2006/main" w="19050">
            <a:solidFill>
              <a:srgbClr val="FF6668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8cfc80f6d941d2"/>
          <a:stretch xmlns:a="http://schemas.openxmlformats.org/drawingml/2006/main"/>
        </p:blipFill>
        <p:spPr>
          <a:xfrm xmlns:a="http://schemas.openxmlformats.org/drawingml/2006/main">
            <a:off x="8963025" y="1552575"/>
            <a:ext cx="1905000" cy="1905000"/>
          </a:xfrm>
          <a:prstGeom xmlns:a="http://schemas.openxmlformats.org/drawingml/2006/main" prst="rect">
            <a:avLst/>
          </a:prstGeom>
        </p:spPr>
      </p:pic>
      <p:sp>
        <p:nvSpPr>
          <p:cNvPr id="12" name="text-106">
            <a:extLst xmlns:a="http://schemas.openxmlformats.org/drawingml/2006/main">
              <a:ext uri="{FF2B5EF4-FFF2-40B4-BE49-F238E27FC236}">
                <a16:creationId xmlns:a16="http://schemas.microsoft.com/office/drawing/2014/main" id="{0C126EFC-D9A8-4553-BBC3-A05A3B6B3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0005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Windows x64 · macOS arm64</a:t>
            </a:r>
          </a:p>
        </p:txBody>
      </p:sp>
    </p:spTree>
    <p:extLst>
      <p:ext uri="{BB962C8B-B14F-4D97-AF65-F5344CB8AC3E}">
        <p14:creationId xmlns:p14="http://schemas.microsoft.com/office/powerpoint/2010/main" val="15502667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box-107">
            <a:extLst xmlns:a="http://schemas.openxmlformats.org/drawingml/2006/main">
              <a:ext uri="{FF2B5EF4-FFF2-40B4-BE49-F238E27FC236}">
                <a16:creationId xmlns:a16="http://schemas.microsoft.com/office/drawing/2014/main" id="{F6ABBFD8-CDAB-4E39-92AC-8D34197EF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668"/>
          </a:solidFill>
          <a:ln xmlns:a="http://schemas.openxmlformats.org/drawingml/2006/main" w="0">
            <a:solidFill>
              <a:srgbClr val="FF6668"/>
            </a:solidFill>
            <a:prstDash val="solid"/>
          </a:ln>
        </p:spPr>
      </p:sp>
      <p:sp>
        <p:nvSpPr>
          <p:cNvPr id="2" name="text-108">
            <a:extLst xmlns:a="http://schemas.openxmlformats.org/drawingml/2006/main">
              <a:ext uri="{FF2B5EF4-FFF2-40B4-BE49-F238E27FC236}">
                <a16:creationId xmlns:a16="http://schemas.microsoft.com/office/drawing/2014/main" id="{A8D8B22D-02F5-47D3-B55B-14F164C55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FRENCH COURSE AI</a:t>
            </a:r>
          </a:p>
        </p:txBody>
      </p:sp>
      <p:sp>
        <p:nvSpPr>
          <p:cNvPr id="3" name="text-109">
            <a:extLst xmlns:a="http://schemas.openxmlformats.org/drawingml/2006/main">
              <a:ext uri="{FF2B5EF4-FFF2-40B4-BE49-F238E27FC236}">
                <a16:creationId xmlns:a16="http://schemas.microsoft.com/office/drawing/2014/main" id="{DBABC3FD-2CE4-4923-9D10-8F7E3DA19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02 / 06</a:t>
            </a:r>
          </a:p>
        </p:txBody>
      </p:sp>
      <p:sp>
        <p:nvSpPr>
          <p:cNvPr id="4" name="text-110">
            <a:extLst xmlns:a="http://schemas.openxmlformats.org/drawingml/2006/main">
              <a:ext uri="{FF2B5EF4-FFF2-40B4-BE49-F238E27FC236}">
                <a16:creationId xmlns:a16="http://schemas.microsoft.com/office/drawing/2014/main" id="{6376AA38-D118-40E6-ACFF-C79189035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4095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Apprendre sans friction</a:t>
            </a:r>
          </a:p>
        </p:txBody>
      </p:sp>
      <p:sp>
        <p:nvSpPr>
          <p:cNvPr id="5" name="text-111">
            <a:extLst xmlns:a="http://schemas.openxmlformats.org/drawingml/2006/main">
              <a:ext uri="{FF2B5EF4-FFF2-40B4-BE49-F238E27FC236}">
                <a16:creationId xmlns:a16="http://schemas.microsoft.com/office/drawing/2014/main" id="{0B7F2EDF-7D8C-44D6-ADCD-5CBEF18D7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8595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Tek uygulama, üç arayüz</a:t>
            </a:r>
          </a:p>
        </p:txBody>
      </p:sp>
      <p:sp>
        <p:nvSpPr>
          <p:cNvPr id="6" name="text-112">
            <a:extLst xmlns:a="http://schemas.openxmlformats.org/drawingml/2006/main">
              <a:ext uri="{FF2B5EF4-FFF2-40B4-BE49-F238E27FC236}">
                <a16:creationId xmlns:a16="http://schemas.microsoft.com/office/drawing/2014/main" id="{67DFFEA3-CBDF-4B8C-A3B5-58072E95E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0980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One app, three interfaces</a:t>
            </a:r>
          </a:p>
        </p:txBody>
      </p:sp>
      <p:sp>
        <p:nvSpPr>
          <p:cNvPr id="7" name="box-113">
            <a:extLst xmlns:a="http://schemas.openxmlformats.org/drawingml/2006/main">
              <a:ext uri="{FF2B5EF4-FFF2-40B4-BE49-F238E27FC236}">
                <a16:creationId xmlns:a16="http://schemas.microsoft.com/office/drawing/2014/main" id="{98C85607-7E52-42BF-962D-AB50439E0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09850"/>
            <a:ext cx="36004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668"/>
          </a:solidFill>
          <a:ln xmlns:a="http://schemas.openxmlformats.org/drawingml/2006/main" w="0">
            <a:solidFill>
              <a:srgbClr val="FF6668"/>
            </a:solidFill>
            <a:prstDash val="solid"/>
          </a:ln>
        </p:spPr>
      </p:sp>
      <p:sp>
        <p:nvSpPr>
          <p:cNvPr id="8" name="text-114">
            <a:extLst xmlns:a="http://schemas.openxmlformats.org/drawingml/2006/main">
              <a:ext uri="{FF2B5EF4-FFF2-40B4-BE49-F238E27FC236}">
                <a16:creationId xmlns:a16="http://schemas.microsoft.com/office/drawing/2014/main" id="{1C62B068-D172-4BB0-82B6-4CA22E902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914650"/>
            <a:ext cx="381000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18 espaces relient révision, vocabulaire, dictionnaire bilingue FR-EN, examen, grammaire et pratique dans un atelier Windows cohérent.</a:t>
            </a:r>
          </a:p>
        </p:txBody>
      </p:sp>
      <p:sp>
        <p:nvSpPr>
          <p:cNvPr id="9" name="text-115">
            <a:extLst xmlns:a="http://schemas.openxmlformats.org/drawingml/2006/main">
              <a:ext uri="{FF2B5EF4-FFF2-40B4-BE49-F238E27FC236}">
                <a16:creationId xmlns:a16="http://schemas.microsoft.com/office/drawing/2014/main" id="{241056CC-3BC5-4BA0-B6AC-CD16E4A22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05300"/>
            <a:ext cx="381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Dil seçimi anında kaydedilir; uygulama çevrimdışı çalışmaya devam eder.</a:t>
            </a:r>
          </a:p>
        </p:txBody>
      </p:sp>
      <p:sp>
        <p:nvSpPr>
          <p:cNvPr id="10" name="text-116">
            <a:extLst xmlns:a="http://schemas.openxmlformats.org/drawingml/2006/main">
              <a:ext uri="{FF2B5EF4-FFF2-40B4-BE49-F238E27FC236}">
                <a16:creationId xmlns:a16="http://schemas.microsoft.com/office/drawing/2014/main" id="{4FE0560D-CAF8-4536-9C4F-90083D2EE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19700"/>
            <a:ext cx="381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The language choice persists instantly, and core learning stays available offline.</a:t>
            </a:r>
          </a:p>
        </p:txBody>
      </p:sp>
      <p:sp>
        <p:nvSpPr>
          <p:cNvPr id="11" name="box-117">
            <a:extLst xmlns:a="http://schemas.openxmlformats.org/drawingml/2006/main">
              <a:ext uri="{FF2B5EF4-FFF2-40B4-BE49-F238E27FC236}">
                <a16:creationId xmlns:a16="http://schemas.microsoft.com/office/drawing/2014/main" id="{03A06004-C8F4-4387-AB9D-CDC446BF2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876300"/>
            <a:ext cx="7277100" cy="495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5E5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3c49f0bf784bea"/>
          <a:stretch xmlns:a="http://schemas.openxmlformats.org/drawingml/2006/main"/>
        </p:blipFill>
        <p:spPr>
          <a:xfrm xmlns:a="http://schemas.openxmlformats.org/drawingml/2006/main">
            <a:off x="4692997" y="1047750"/>
            <a:ext cx="6920805" cy="4533900"/>
          </a:xfrm>
          <a:prstGeom xmlns:a="http://schemas.openxmlformats.org/drawingml/2006/main" prst="rect">
            <a:avLst/>
          </a:prstGeom>
        </p:spPr>
      </p:pic>
      <p:sp>
        <p:nvSpPr>
          <p:cNvPr id="13" name="text-118">
            <a:extLst xmlns:a="http://schemas.openxmlformats.org/drawingml/2006/main">
              <a:ext uri="{FF2B5EF4-FFF2-40B4-BE49-F238E27FC236}">
                <a16:creationId xmlns:a16="http://schemas.microsoft.com/office/drawing/2014/main" id="{0F04BB1E-7A97-442C-BEE1-BCCD2A0D2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5924550"/>
            <a:ext cx="6934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Gerçek EXE ekranı · Real executable · Application réelle</a:t>
            </a:r>
          </a:p>
        </p:txBody>
      </p:sp>
    </p:spTree>
    <p:extLst>
      <p:ext uri="{BB962C8B-B14F-4D97-AF65-F5344CB8AC3E}">
        <p14:creationId xmlns:p14="http://schemas.microsoft.com/office/powerpoint/2010/main" val="119113992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box-119">
            <a:extLst xmlns:a="http://schemas.openxmlformats.org/drawingml/2006/main">
              <a:ext uri="{FF2B5EF4-FFF2-40B4-BE49-F238E27FC236}">
                <a16:creationId xmlns:a16="http://schemas.microsoft.com/office/drawing/2014/main" id="{4CFC0B2F-6513-444A-A093-4FD515FCB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668"/>
          </a:solidFill>
          <a:ln xmlns:a="http://schemas.openxmlformats.org/drawingml/2006/main" w="0">
            <a:solidFill>
              <a:srgbClr val="FF6668"/>
            </a:solidFill>
            <a:prstDash val="solid"/>
          </a:ln>
        </p:spPr>
      </p:sp>
      <p:sp>
        <p:nvSpPr>
          <p:cNvPr id="2" name="text-120">
            <a:extLst xmlns:a="http://schemas.openxmlformats.org/drawingml/2006/main">
              <a:ext uri="{FF2B5EF4-FFF2-40B4-BE49-F238E27FC236}">
                <a16:creationId xmlns:a16="http://schemas.microsoft.com/office/drawing/2014/main" id="{69ECC909-5123-45DF-862D-08A3B7215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FRENCH COURSE AI</a:t>
            </a:r>
          </a:p>
        </p:txBody>
      </p:sp>
      <p:sp>
        <p:nvSpPr>
          <p:cNvPr id="3" name="text-121">
            <a:extLst xmlns:a="http://schemas.openxmlformats.org/drawingml/2006/main">
              <a:ext uri="{FF2B5EF4-FFF2-40B4-BE49-F238E27FC236}">
                <a16:creationId xmlns:a16="http://schemas.microsoft.com/office/drawing/2014/main" id="{13DEBDFE-BDAF-4FF0-8E2A-F8C63CA38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03 / 06</a:t>
            </a:r>
          </a:p>
        </p:txBody>
      </p:sp>
      <p:sp>
        <p:nvSpPr>
          <p:cNvPr id="4" name="text-122">
            <a:extLst xmlns:a="http://schemas.openxmlformats.org/drawingml/2006/main">
              <a:ext uri="{FF2B5EF4-FFF2-40B4-BE49-F238E27FC236}">
                <a16:creationId xmlns:a16="http://schemas.microsoft.com/office/drawing/2014/main" id="{BD09AFA0-84C3-4F4B-A226-760977EB5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1047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 learning engine that remembers</a:t>
            </a:r>
          </a:p>
        </p:txBody>
      </p:sp>
      <p:sp>
        <p:nvSpPr>
          <p:cNvPr id="5" name="text-123">
            <a:extLst xmlns:a="http://schemas.openxmlformats.org/drawingml/2006/main">
              <a:ext uri="{FF2B5EF4-FFF2-40B4-BE49-F238E27FC236}">
                <a16:creationId xmlns:a16="http://schemas.microsoft.com/office/drawing/2014/main" id="{12D889D8-C858-4353-B4E5-D914E5A87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Öğrenme motoru hatırlar · Le moteur d’apprentissage retient vos progrès</a:t>
            </a:r>
          </a:p>
        </p:txBody>
      </p:sp>
      <p:sp>
        <p:nvSpPr>
          <p:cNvPr id="6" name="text-124">
            <a:extLst xmlns:a="http://schemas.openxmlformats.org/drawingml/2006/main">
              <a:ext uri="{FF2B5EF4-FFF2-40B4-BE49-F238E27FC236}">
                <a16:creationId xmlns:a16="http://schemas.microsoft.com/office/drawing/2014/main" id="{FFDE3905-826F-4CB5-BF18-ACA3DF41F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574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TÜRKÇE</a:t>
            </a:r>
          </a:p>
        </p:txBody>
      </p:sp>
      <p:sp>
        <p:nvSpPr>
          <p:cNvPr id="7" name="box-125">
            <a:extLst xmlns:a="http://schemas.openxmlformats.org/drawingml/2006/main">
              <a:ext uri="{FF2B5EF4-FFF2-40B4-BE49-F238E27FC236}">
                <a16:creationId xmlns:a16="http://schemas.microsoft.com/office/drawing/2014/main" id="{92AE0CE7-0776-4306-B035-9118C185E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95600"/>
            <a:ext cx="3143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</p:sp>
      <p:sp>
        <p:nvSpPr>
          <p:cNvPr id="8" name="text-126">
            <a:extLst xmlns:a="http://schemas.openxmlformats.org/drawingml/2006/main">
              <a:ext uri="{FF2B5EF4-FFF2-40B4-BE49-F238E27FC236}">
                <a16:creationId xmlns:a16="http://schemas.microsoft.com/office/drawing/2014/main" id="{DBFA17C4-1F4C-4A0C-844E-A6BC9FB13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181350"/>
            <a:ext cx="3143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Her gün doğru sıra</a:t>
            </a:r>
          </a:p>
        </p:txBody>
      </p:sp>
      <p:sp>
        <p:nvSpPr>
          <p:cNvPr id="9" name="text-127">
            <a:extLst xmlns:a="http://schemas.openxmlformats.org/drawingml/2006/main">
              <a:ext uri="{FF2B5EF4-FFF2-40B4-BE49-F238E27FC236}">
                <a16:creationId xmlns:a16="http://schemas.microsoft.com/office/drawing/2014/main" id="{05E9953B-220D-44C6-883F-E3927A8D3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62400"/>
            <a:ext cx="314325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SM-2 ve Leitner, yeni ve gecikmiş kartları günlük bir sıraya dönüştürür.</a:t>
            </a:r>
          </a:p>
        </p:txBody>
      </p:sp>
      <p:sp>
        <p:nvSpPr>
          <p:cNvPr id="10" name="text-128">
            <a:extLst xmlns:a="http://schemas.openxmlformats.org/drawingml/2006/main">
              <a:ext uri="{FF2B5EF4-FFF2-40B4-BE49-F238E27FC236}">
                <a16:creationId xmlns:a16="http://schemas.microsoft.com/office/drawing/2014/main" id="{377CC8A3-76C0-404F-AF45-02C215383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4574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ENGLISH</a:t>
            </a:r>
          </a:p>
        </p:txBody>
      </p:sp>
      <p:sp>
        <p:nvSpPr>
          <p:cNvPr id="11" name="box-129">
            <a:extLst xmlns:a="http://schemas.openxmlformats.org/drawingml/2006/main">
              <a:ext uri="{FF2B5EF4-FFF2-40B4-BE49-F238E27FC236}">
                <a16:creationId xmlns:a16="http://schemas.microsoft.com/office/drawing/2014/main" id="{EB9D318E-E6C2-4264-A1C5-389C279C5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895600"/>
            <a:ext cx="3143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668"/>
          </a:solidFill>
          <a:ln xmlns:a="http://schemas.openxmlformats.org/drawingml/2006/main" w="0">
            <a:solidFill>
              <a:srgbClr val="FF6668"/>
            </a:solidFill>
            <a:prstDash val="solid"/>
          </a:ln>
        </p:spPr>
      </p:sp>
      <p:sp>
        <p:nvSpPr>
          <p:cNvPr id="12" name="text-130">
            <a:extLst xmlns:a="http://schemas.openxmlformats.org/drawingml/2006/main">
              <a:ext uri="{FF2B5EF4-FFF2-40B4-BE49-F238E27FC236}">
                <a16:creationId xmlns:a16="http://schemas.microsoft.com/office/drawing/2014/main" id="{68F0F7CF-C7C5-4032-9CED-85C83ADD3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181350"/>
            <a:ext cx="3143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Practice with evidence</a:t>
            </a:r>
          </a:p>
        </p:txBody>
      </p:sp>
      <p:sp>
        <p:nvSpPr>
          <p:cNvPr id="13" name="text-131">
            <a:extLst xmlns:a="http://schemas.openxmlformats.org/drawingml/2006/main">
              <a:ext uri="{FF2B5EF4-FFF2-40B4-BE49-F238E27FC236}">
                <a16:creationId xmlns:a16="http://schemas.microsoft.com/office/drawing/2014/main" id="{E27AF4BA-1543-4E4A-B4B6-EAB5DAB38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962400"/>
            <a:ext cx="314325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162 A1 entries, a 1,210-entry FR-EN dictionary, strict accented answers, exams, favorites and mistakes share one SQLite record.</a:t>
            </a:r>
          </a:p>
        </p:txBody>
      </p:sp>
      <p:sp>
        <p:nvSpPr>
          <p:cNvPr id="14" name="text-132">
            <a:extLst xmlns:a="http://schemas.openxmlformats.org/drawingml/2006/main">
              <a:ext uri="{FF2B5EF4-FFF2-40B4-BE49-F238E27FC236}">
                <a16:creationId xmlns:a16="http://schemas.microsoft.com/office/drawing/2014/main" id="{F82BE8F1-F3CE-4D6E-8262-1344950C6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4574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FRANÇAIS</a:t>
            </a:r>
          </a:p>
        </p:txBody>
      </p:sp>
      <p:sp>
        <p:nvSpPr>
          <p:cNvPr id="15" name="box-133">
            <a:extLst xmlns:a="http://schemas.openxmlformats.org/drawingml/2006/main">
              <a:ext uri="{FF2B5EF4-FFF2-40B4-BE49-F238E27FC236}">
                <a16:creationId xmlns:a16="http://schemas.microsoft.com/office/drawing/2014/main" id="{2D3126DB-4093-437C-A6DB-FA7880876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895600"/>
            <a:ext cx="3143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</p:sp>
      <p:sp>
        <p:nvSpPr>
          <p:cNvPr id="16" name="text-134">
            <a:extLst xmlns:a="http://schemas.openxmlformats.org/drawingml/2006/main">
              <a:ext uri="{FF2B5EF4-FFF2-40B4-BE49-F238E27FC236}">
                <a16:creationId xmlns:a16="http://schemas.microsoft.com/office/drawing/2014/main" id="{A0ECF5FD-B37C-4B42-B7C0-70E59A097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181350"/>
            <a:ext cx="3143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Les progrès restent locaux</a:t>
            </a:r>
          </a:p>
        </p:txBody>
      </p:sp>
      <p:sp>
        <p:nvSpPr>
          <p:cNvPr id="17" name="text-135">
            <a:extLst xmlns:a="http://schemas.openxmlformats.org/drawingml/2006/main">
              <a:ext uri="{FF2B5EF4-FFF2-40B4-BE49-F238E27FC236}">
                <a16:creationId xmlns:a16="http://schemas.microsoft.com/office/drawing/2014/main" id="{7AEF533D-F7BC-4F60-9232-38CB088A1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962400"/>
            <a:ext cx="314325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Révisions, erreurs, favoris et examens sont enregistrés localement et restent explicables.</a:t>
            </a:r>
          </a:p>
        </p:txBody>
      </p:sp>
      <p:sp>
        <p:nvSpPr>
          <p:cNvPr id="18" name="text-136">
            <a:extLst xmlns:a="http://schemas.openxmlformats.org/drawingml/2006/main">
              <a:ext uri="{FF2B5EF4-FFF2-40B4-BE49-F238E27FC236}">
                <a16:creationId xmlns:a16="http://schemas.microsoft.com/office/drawing/2014/main" id="{41CF9FF7-E86D-4048-B0ED-D0FD2DA15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867400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Kaynak kataloğu / resource catalog / catalogue de ressources: Wikibooks · Tatoeba · LibriVox · Project Gutenberg</a:t>
            </a:r>
          </a:p>
        </p:txBody>
      </p:sp>
    </p:spTree>
    <p:extLst>
      <p:ext uri="{BB962C8B-B14F-4D97-AF65-F5344CB8AC3E}">
        <p14:creationId xmlns:p14="http://schemas.microsoft.com/office/powerpoint/2010/main" val="65851438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box-137">
            <a:extLst xmlns:a="http://schemas.openxmlformats.org/drawingml/2006/main">
              <a:ext uri="{FF2B5EF4-FFF2-40B4-BE49-F238E27FC236}">
                <a16:creationId xmlns:a16="http://schemas.microsoft.com/office/drawing/2014/main" id="{6BAB9373-D91B-46E8-9A39-563B91DB9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668"/>
          </a:solidFill>
          <a:ln xmlns:a="http://schemas.openxmlformats.org/drawingml/2006/main" w="0">
            <a:solidFill>
              <a:srgbClr val="FF6668"/>
            </a:solidFill>
            <a:prstDash val="solid"/>
          </a:ln>
        </p:spPr>
      </p:sp>
      <p:sp>
        <p:nvSpPr>
          <p:cNvPr id="2" name="text-138">
            <a:extLst xmlns:a="http://schemas.openxmlformats.org/drawingml/2006/main">
              <a:ext uri="{FF2B5EF4-FFF2-40B4-BE49-F238E27FC236}">
                <a16:creationId xmlns:a16="http://schemas.microsoft.com/office/drawing/2014/main" id="{ECF761DB-43F4-4506-BB23-1C1417DF6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FRENCH COURSE AI</a:t>
            </a:r>
          </a:p>
        </p:txBody>
      </p:sp>
      <p:sp>
        <p:nvSpPr>
          <p:cNvPr id="3" name="text-139">
            <a:extLst xmlns:a="http://schemas.openxmlformats.org/drawingml/2006/main">
              <a:ext uri="{FF2B5EF4-FFF2-40B4-BE49-F238E27FC236}">
                <a16:creationId xmlns:a16="http://schemas.microsoft.com/office/drawing/2014/main" id="{5BBC89C7-45C6-4978-8111-B9661948F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04 / 06</a:t>
            </a:r>
          </a:p>
        </p:txBody>
      </p:sp>
      <p:sp>
        <p:nvSpPr>
          <p:cNvPr id="4" name="text-140">
            <a:extLst xmlns:a="http://schemas.openxmlformats.org/drawingml/2006/main">
              <a:ext uri="{FF2B5EF4-FFF2-40B4-BE49-F238E27FC236}">
                <a16:creationId xmlns:a16="http://schemas.microsoft.com/office/drawing/2014/main" id="{C7BAEFC1-B8C9-40FB-8678-7CF72E406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Le français mérite des outils précis</a:t>
            </a:r>
          </a:p>
        </p:txBody>
      </p:sp>
      <p:sp>
        <p:nvSpPr>
          <p:cNvPr id="5" name="text-141">
            <a:extLst xmlns:a="http://schemas.openxmlformats.org/drawingml/2006/main">
              <a:ext uri="{FF2B5EF4-FFF2-40B4-BE49-F238E27FC236}">
                <a16:creationId xmlns:a16="http://schemas.microsoft.com/office/drawing/2014/main" id="{B8C1975E-C418-4C6B-B5A7-38783DD4B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Fransızcaya özgü laboratuvar  ·  A French-specific language lab</a:t>
            </a:r>
          </a:p>
        </p:txBody>
      </p:sp>
      <p:sp>
        <p:nvSpPr>
          <p:cNvPr id="6" name="box-142">
            <a:extLst xmlns:a="http://schemas.openxmlformats.org/drawingml/2006/main">
              <a:ext uri="{FF2B5EF4-FFF2-40B4-BE49-F238E27FC236}">
                <a16:creationId xmlns:a16="http://schemas.microsoft.com/office/drawing/2014/main" id="{61DF5ABF-4AAD-4270-BB2A-80E0722B9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28850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7" name="text-143">
            <a:extLst xmlns:a="http://schemas.openxmlformats.org/drawingml/2006/main">
              <a:ext uri="{FF2B5EF4-FFF2-40B4-BE49-F238E27FC236}">
                <a16:creationId xmlns:a16="http://schemas.microsoft.com/office/drawing/2014/main" id="{AC667315-DE7F-43F2-9F6A-1422E739A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38400"/>
            <a:ext cx="514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l’école · les écoles</a:t>
            </a:r>
          </a:p>
        </p:txBody>
      </p:sp>
      <p:sp>
        <p:nvSpPr>
          <p:cNvPr id="8" name="text-144">
            <a:extLst xmlns:a="http://schemas.openxmlformats.org/drawingml/2006/main">
              <a:ext uri="{FF2B5EF4-FFF2-40B4-BE49-F238E27FC236}">
                <a16:creationId xmlns:a16="http://schemas.microsoft.com/office/drawing/2014/main" id="{C7167620-E0BF-4890-B574-80C877BC1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86100"/>
            <a:ext cx="4953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Artikel ve elision · articles and elision · articles et élision</a:t>
            </a:r>
          </a:p>
        </p:txBody>
      </p:sp>
      <p:sp>
        <p:nvSpPr>
          <p:cNvPr id="9" name="box-145">
            <a:extLst xmlns:a="http://schemas.openxmlformats.org/drawingml/2006/main">
              <a:ext uri="{FF2B5EF4-FFF2-40B4-BE49-F238E27FC236}">
                <a16:creationId xmlns:a16="http://schemas.microsoft.com/office/drawing/2014/main" id="{915DE63D-312E-494D-B191-21454D08E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28850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0" name="text-146">
            <a:extLst xmlns:a="http://schemas.openxmlformats.org/drawingml/2006/main">
              <a:ext uri="{FF2B5EF4-FFF2-40B4-BE49-F238E27FC236}">
                <a16:creationId xmlns:a16="http://schemas.microsoft.com/office/drawing/2014/main" id="{3933C62D-7387-4BAE-B46A-0AD5331F1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438400"/>
            <a:ext cx="514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é · è · ê · ç</a:t>
            </a:r>
          </a:p>
        </p:txBody>
      </p:sp>
      <p:sp>
        <p:nvSpPr>
          <p:cNvPr id="11" name="text-147">
            <a:extLst xmlns:a="http://schemas.openxmlformats.org/drawingml/2006/main">
              <a:ext uri="{FF2B5EF4-FFF2-40B4-BE49-F238E27FC236}">
                <a16:creationId xmlns:a16="http://schemas.microsoft.com/office/drawing/2014/main" id="{C8FA4460-6DA8-4DE5-93C7-F732996DC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86100"/>
            <a:ext cx="4953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Aksan araması kontrollü · controlled accent search · recherche d’accents contrôlée</a:t>
            </a:r>
          </a:p>
        </p:txBody>
      </p:sp>
      <p:sp>
        <p:nvSpPr>
          <p:cNvPr id="12" name="box-148">
            <a:extLst xmlns:a="http://schemas.openxmlformats.org/drawingml/2006/main">
              <a:ext uri="{FF2B5EF4-FFF2-40B4-BE49-F238E27FC236}">
                <a16:creationId xmlns:a16="http://schemas.microsoft.com/office/drawing/2014/main" id="{BF3DADDF-DC16-41F2-B63D-88B2FE237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95750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3" name="text-149">
            <a:extLst xmlns:a="http://schemas.openxmlformats.org/drawingml/2006/main">
              <a:ext uri="{FF2B5EF4-FFF2-40B4-BE49-F238E27FC236}">
                <a16:creationId xmlns:a16="http://schemas.microsoft.com/office/drawing/2014/main" id="{10175C24-A31B-4D80-B2D1-C258710DB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05300"/>
            <a:ext cx="514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cœur · sœur · œuvre</a:t>
            </a:r>
          </a:p>
        </p:txBody>
      </p:sp>
      <p:sp>
        <p:nvSpPr>
          <p:cNvPr id="14" name="text-150">
            <a:extLst xmlns:a="http://schemas.openxmlformats.org/drawingml/2006/main">
              <a:ext uri="{FF2B5EF4-FFF2-40B4-BE49-F238E27FC236}">
                <a16:creationId xmlns:a16="http://schemas.microsoft.com/office/drawing/2014/main" id="{6E6B8E15-EF53-4CA2-A747-89C695B35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0"/>
            <a:ext cx="4953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œ aramada esnek, yanıtta kesin · flexible search, strict answer · recherche souple, réponse exacte</a:t>
            </a:r>
          </a:p>
        </p:txBody>
      </p:sp>
      <p:sp>
        <p:nvSpPr>
          <p:cNvPr id="15" name="box-151">
            <a:extLst xmlns:a="http://schemas.openxmlformats.org/drawingml/2006/main">
              <a:ext uri="{FF2B5EF4-FFF2-40B4-BE49-F238E27FC236}">
                <a16:creationId xmlns:a16="http://schemas.microsoft.com/office/drawing/2014/main" id="{39CAE047-EEF7-41C6-BEF9-D03A2D6FC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095750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text-152">
            <a:extLst xmlns:a="http://schemas.openxmlformats.org/drawingml/2006/main">
              <a:ext uri="{FF2B5EF4-FFF2-40B4-BE49-F238E27FC236}">
                <a16:creationId xmlns:a16="http://schemas.microsoft.com/office/drawing/2014/main" id="{5E7DBBFE-7C18-474E-A9E0-058F18FC3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305300"/>
            <a:ext cx="514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yeux → l’œil (m)</a:t>
            </a:r>
          </a:p>
        </p:txBody>
      </p:sp>
      <p:sp>
        <p:nvSpPr>
          <p:cNvPr id="17" name="text-153">
            <a:extLst xmlns:a="http://schemas.openxmlformats.org/drawingml/2006/main">
              <a:ext uri="{FF2B5EF4-FFF2-40B4-BE49-F238E27FC236}">
                <a16:creationId xmlns:a16="http://schemas.microsoft.com/office/drawing/2014/main" id="{3D91DF67-D4A8-4F67-88D1-9000BE440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953000"/>
            <a:ext cx="4953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Sözlük düzensiz çoğulu çözer · dictionary resolves irregular plurals · le dictionnaire retrouve le singulier</a:t>
            </a:r>
          </a:p>
        </p:txBody>
      </p:sp>
    </p:spTree>
    <p:extLst>
      <p:ext uri="{BB962C8B-B14F-4D97-AF65-F5344CB8AC3E}">
        <p14:creationId xmlns:p14="http://schemas.microsoft.com/office/powerpoint/2010/main" val="25576521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box-154">
            <a:extLst xmlns:a="http://schemas.openxmlformats.org/drawingml/2006/main">
              <a:ext uri="{FF2B5EF4-FFF2-40B4-BE49-F238E27FC236}">
                <a16:creationId xmlns:a16="http://schemas.microsoft.com/office/drawing/2014/main" id="{DF735055-437B-4E16-A73B-0969880F0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668"/>
          </a:solidFill>
          <a:ln xmlns:a="http://schemas.openxmlformats.org/drawingml/2006/main" w="0">
            <a:solidFill>
              <a:srgbClr val="FF6668"/>
            </a:solidFill>
            <a:prstDash val="solid"/>
          </a:ln>
        </p:spPr>
      </p:sp>
      <p:sp>
        <p:nvSpPr>
          <p:cNvPr id="2" name="text-155">
            <a:extLst xmlns:a="http://schemas.openxmlformats.org/drawingml/2006/main">
              <a:ext uri="{FF2B5EF4-FFF2-40B4-BE49-F238E27FC236}">
                <a16:creationId xmlns:a16="http://schemas.microsoft.com/office/drawing/2014/main" id="{B4F4797F-708D-4888-AFBC-FEB243087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FRENCH COURSE AI</a:t>
            </a:r>
          </a:p>
        </p:txBody>
      </p:sp>
      <p:sp>
        <p:nvSpPr>
          <p:cNvPr id="3" name="text-156">
            <a:extLst xmlns:a="http://schemas.openxmlformats.org/drawingml/2006/main">
              <a:ext uri="{FF2B5EF4-FFF2-40B4-BE49-F238E27FC236}">
                <a16:creationId xmlns:a16="http://schemas.microsoft.com/office/drawing/2014/main" id="{CE92F4FE-4100-4DB6-BD57-4480A3508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05 / 06</a:t>
            </a:r>
          </a:p>
        </p:txBody>
      </p:sp>
      <p:sp>
        <p:nvSpPr>
          <p:cNvPr id="4" name="text-157">
            <a:extLst xmlns:a="http://schemas.openxmlformats.org/drawingml/2006/main">
              <a:ext uri="{FF2B5EF4-FFF2-40B4-BE49-F238E27FC236}">
                <a16:creationId xmlns:a16="http://schemas.microsoft.com/office/drawing/2014/main" id="{9A4BAF04-2976-4EEC-AA84-226F04300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1104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AI isteğe bağlı; mahremiyet varsayılan</a:t>
            </a:r>
          </a:p>
        </p:txBody>
      </p:sp>
      <p:sp>
        <p:nvSpPr>
          <p:cNvPr id="5" name="text-158">
            <a:extLst xmlns:a="http://schemas.openxmlformats.org/drawingml/2006/main">
              <a:ext uri="{FF2B5EF4-FFF2-40B4-BE49-F238E27FC236}">
                <a16:creationId xmlns:a16="http://schemas.microsoft.com/office/drawing/2014/main" id="{921916B6-4C01-4FB9-A1AD-A287D0E0C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AI is optional; privacy is the default  ·  L’IA est facultative; la confidentialité est la règle</a:t>
            </a:r>
          </a:p>
        </p:txBody>
      </p:sp>
      <p:sp>
        <p:nvSpPr>
          <p:cNvPr id="6" name="box-159">
            <a:extLst xmlns:a="http://schemas.openxmlformats.org/drawingml/2006/main">
              <a:ext uri="{FF2B5EF4-FFF2-40B4-BE49-F238E27FC236}">
                <a16:creationId xmlns:a16="http://schemas.microsoft.com/office/drawing/2014/main" id="{067B4F55-9E64-4383-AB4B-E6E599B95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14700"/>
            <a:ext cx="10001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</p:sp>
      <p:sp>
        <p:nvSpPr>
          <p:cNvPr id="7" name="dot-160">
            <a:extLst xmlns:a="http://schemas.openxmlformats.org/drawingml/2006/main">
              <a:ext uri="{FF2B5EF4-FFF2-40B4-BE49-F238E27FC236}">
                <a16:creationId xmlns:a16="http://schemas.microsoft.com/office/drawing/2014/main" id="{6006D020-6A8E-4C75-BDC1-509FF19DC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0992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61">
            <a:extLst xmlns:a="http://schemas.openxmlformats.org/drawingml/2006/main">
              <a:ext uri="{FF2B5EF4-FFF2-40B4-BE49-F238E27FC236}">
                <a16:creationId xmlns:a16="http://schemas.microsoft.com/office/drawing/2014/main" id="{7CFC04E8-A2EF-4F17-BE35-7B481EC1C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01 · CONTEXT</a:t>
            </a:r>
          </a:p>
        </p:txBody>
      </p:sp>
      <p:sp>
        <p:nvSpPr>
          <p:cNvPr id="9" name="text-162">
            <a:extLst xmlns:a="http://schemas.openxmlformats.org/drawingml/2006/main">
              <a:ext uri="{FF2B5EF4-FFF2-40B4-BE49-F238E27FC236}">
                <a16:creationId xmlns:a16="http://schemas.microsoft.com/office/drawing/2014/main" id="{EC6E338D-B4CC-4A6B-94D9-5025FFB48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Öğrenci bağlamı</a:t>
            </a:r>
          </a:p>
        </p:txBody>
      </p:sp>
      <p:sp>
        <p:nvSpPr>
          <p:cNvPr id="10" name="text-163">
            <a:extLst xmlns:a="http://schemas.openxmlformats.org/drawingml/2006/main">
              <a:ext uri="{FF2B5EF4-FFF2-40B4-BE49-F238E27FC236}">
                <a16:creationId xmlns:a16="http://schemas.microsoft.com/office/drawing/2014/main" id="{558BFEBD-1C97-4A5C-BDA7-0902D5EFB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0"/>
            <a:ext cx="2667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Seviye, hedef ve etkin çalışma uygulama içinde derlenir.</a:t>
            </a:r>
          </a:p>
        </p:txBody>
      </p:sp>
      <p:sp>
        <p:nvSpPr>
          <p:cNvPr id="11" name="dot-164">
            <a:extLst xmlns:a="http://schemas.openxmlformats.org/drawingml/2006/main">
              <a:ext uri="{FF2B5EF4-FFF2-40B4-BE49-F238E27FC236}">
                <a16:creationId xmlns:a16="http://schemas.microsoft.com/office/drawing/2014/main" id="{E1FD1CCD-6725-4455-9FA6-48F6002F3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20992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6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-165">
            <a:extLst xmlns:a="http://schemas.openxmlformats.org/drawingml/2006/main">
              <a:ext uri="{FF2B5EF4-FFF2-40B4-BE49-F238E27FC236}">
                <a16:creationId xmlns:a16="http://schemas.microsoft.com/office/drawing/2014/main" id="{6EA237C8-E1BA-4CA6-8C11-195120F85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781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02 · LOCAL MODEL</a:t>
            </a:r>
          </a:p>
        </p:txBody>
      </p:sp>
      <p:sp>
        <p:nvSpPr>
          <p:cNvPr id="13" name="text-166">
            <a:extLst xmlns:a="http://schemas.openxmlformats.org/drawingml/2006/main">
              <a:ext uri="{FF2B5EF4-FFF2-40B4-BE49-F238E27FC236}">
                <a16:creationId xmlns:a16="http://schemas.microsoft.com/office/drawing/2014/main" id="{80C2EA4E-A394-4B2D-BDEE-F4D4C67B3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695700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LM Studio</a:t>
            </a:r>
          </a:p>
        </p:txBody>
      </p:sp>
      <p:sp>
        <p:nvSpPr>
          <p:cNvPr id="14" name="text-167">
            <a:extLst xmlns:a="http://schemas.openxmlformats.org/drawingml/2006/main">
              <a:ext uri="{FF2B5EF4-FFF2-40B4-BE49-F238E27FC236}">
                <a16:creationId xmlns:a16="http://schemas.microsoft.com/office/drawing/2014/main" id="{CE96F230-8CC9-477F-B65C-A73E92813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381500"/>
            <a:ext cx="2667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İstek yalnızca yerel uç noktaya gider; bağlantı yoksa akış güvenle kapanır.</a:t>
            </a:r>
          </a:p>
        </p:txBody>
      </p:sp>
      <p:sp>
        <p:nvSpPr>
          <p:cNvPr id="15" name="dot-168">
            <a:extLst xmlns:a="http://schemas.openxmlformats.org/drawingml/2006/main">
              <a:ext uri="{FF2B5EF4-FFF2-40B4-BE49-F238E27FC236}">
                <a16:creationId xmlns:a16="http://schemas.microsoft.com/office/drawing/2014/main" id="{47E095DC-3C8E-4BA7-8640-573D3DB28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20992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169">
            <a:extLst xmlns:a="http://schemas.openxmlformats.org/drawingml/2006/main">
              <a:ext uri="{FF2B5EF4-FFF2-40B4-BE49-F238E27FC236}">
                <a16:creationId xmlns:a16="http://schemas.microsoft.com/office/drawing/2014/main" id="{E7BEB6E4-E550-4A03-883D-F38F53212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781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03 · RECORD</a:t>
            </a:r>
          </a:p>
        </p:txBody>
      </p:sp>
      <p:sp>
        <p:nvSpPr>
          <p:cNvPr id="17" name="text-170">
            <a:extLst xmlns:a="http://schemas.openxmlformats.org/drawingml/2006/main">
              <a:ext uri="{FF2B5EF4-FFF2-40B4-BE49-F238E27FC236}">
                <a16:creationId xmlns:a16="http://schemas.microsoft.com/office/drawing/2014/main" id="{CE5B93CD-2485-4FA0-B2EA-31686D381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695700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Güvenli kayıt</a:t>
            </a:r>
          </a:p>
        </p:txBody>
      </p:sp>
      <p:sp>
        <p:nvSpPr>
          <p:cNvPr id="18" name="text-171">
            <a:extLst xmlns:a="http://schemas.openxmlformats.org/drawingml/2006/main">
              <a:ext uri="{FF2B5EF4-FFF2-40B4-BE49-F238E27FC236}">
                <a16:creationId xmlns:a16="http://schemas.microsoft.com/office/drawing/2014/main" id="{5856D05D-4902-48B5-91ED-242E44A77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381500"/>
            <a:ext cx="2667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Yalnızca süre, token sayısı ve durum tutulur; konuşma metni tutulmaz.</a:t>
            </a:r>
          </a:p>
        </p:txBody>
      </p:sp>
      <p:sp>
        <p:nvSpPr>
          <p:cNvPr id="19" name="box-172">
            <a:extLst xmlns:a="http://schemas.openxmlformats.org/drawingml/2006/main">
              <a:ext uri="{FF2B5EF4-FFF2-40B4-BE49-F238E27FC236}">
                <a16:creationId xmlns:a16="http://schemas.microsoft.com/office/drawing/2014/main" id="{F09108AC-EB69-4A4B-A8B9-277D15060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72150"/>
            <a:ext cx="10668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5E5"/>
          </a:solidFill>
          <a:ln xmlns:a="http://schemas.openxmlformats.org/drawingml/2006/main" w="0">
            <a:solidFill>
              <a:srgbClr val="FFE5E5"/>
            </a:solidFill>
            <a:prstDash val="solid"/>
          </a:ln>
        </p:spPr>
      </p:sp>
      <p:sp>
        <p:nvSpPr>
          <p:cNvPr id="20" name="text-173">
            <a:extLst xmlns:a="http://schemas.openxmlformats.org/drawingml/2006/main">
              <a:ext uri="{FF2B5EF4-FFF2-40B4-BE49-F238E27FC236}">
                <a16:creationId xmlns:a16="http://schemas.microsoft.com/office/drawing/2014/main" id="{C9F4D3F1-C17C-4997-9762-CC186E20F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876925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Çevrimdışı çekirdek / Offline core / cœur hors ligne — AI kapalıyken de tüm temel çalışma akışları kullanılabilir.</a:t>
            </a:r>
          </a:p>
        </p:txBody>
      </p:sp>
    </p:spTree>
    <p:extLst>
      <p:ext uri="{BB962C8B-B14F-4D97-AF65-F5344CB8AC3E}">
        <p14:creationId xmlns:p14="http://schemas.microsoft.com/office/powerpoint/2010/main" val="17220384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box-174">
            <a:extLst xmlns:a="http://schemas.openxmlformats.org/drawingml/2006/main">
              <a:ext uri="{FF2B5EF4-FFF2-40B4-BE49-F238E27FC236}">
                <a16:creationId xmlns:a16="http://schemas.microsoft.com/office/drawing/2014/main" id="{20256EEC-920D-40C0-B903-AA5C7AA83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668"/>
          </a:solidFill>
          <a:ln xmlns:a="http://schemas.openxmlformats.org/drawingml/2006/main" w="0">
            <a:solidFill>
              <a:srgbClr val="FF6668"/>
            </a:solidFill>
            <a:prstDash val="solid"/>
          </a:ln>
        </p:spPr>
      </p:sp>
      <p:sp>
        <p:nvSpPr>
          <p:cNvPr id="2" name="text-175">
            <a:extLst xmlns:a="http://schemas.openxmlformats.org/drawingml/2006/main">
              <a:ext uri="{FF2B5EF4-FFF2-40B4-BE49-F238E27FC236}">
                <a16:creationId xmlns:a16="http://schemas.microsoft.com/office/drawing/2014/main" id="{64A6C2CF-6056-4909-9FA0-4FF69A411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720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TESLİME HAZIR · READY TO DELIVER · PRÊT À LIVRER</a:t>
            </a:r>
          </a:p>
        </p:txBody>
      </p:sp>
      <p:sp>
        <p:nvSpPr>
          <p:cNvPr id="3" name="text-176">
            <a:extLst xmlns:a="http://schemas.openxmlformats.org/drawingml/2006/main">
              <a:ext uri="{FF2B5EF4-FFF2-40B4-BE49-F238E27FC236}">
                <a16:creationId xmlns:a16="http://schemas.microsoft.com/office/drawing/2014/main" id="{1B6AA55A-BA5A-4387-B373-243B0DA24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7640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Hazır.</a:t>
            </a:r>
          </a:p>
        </p:txBody>
      </p:sp>
      <p:sp>
        <p:nvSpPr>
          <p:cNvPr id="4" name="text-177">
            <a:extLst xmlns:a="http://schemas.openxmlformats.org/drawingml/2006/main">
              <a:ext uri="{FF2B5EF4-FFF2-40B4-BE49-F238E27FC236}">
                <a16:creationId xmlns:a16="http://schemas.microsoft.com/office/drawing/2014/main" id="{63A31BD9-1260-4C5D-BF06-C6E08D1F8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67640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Ready.</a:t>
            </a:r>
          </a:p>
        </p:txBody>
      </p:sp>
      <p:sp>
        <p:nvSpPr>
          <p:cNvPr id="5" name="text-178">
            <a:extLst xmlns:a="http://schemas.openxmlformats.org/drawingml/2006/main">
              <a:ext uri="{FF2B5EF4-FFF2-40B4-BE49-F238E27FC236}">
                <a16:creationId xmlns:a16="http://schemas.microsoft.com/office/drawing/2014/main" id="{E25F5FC5-9A05-441E-8ED7-85D0E2178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676400"/>
            <a:ext cx="2857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Prêt.</a:t>
            </a:r>
          </a:p>
        </p:txBody>
      </p:sp>
      <p:sp>
        <p:nvSpPr>
          <p:cNvPr id="6" name="text-179">
            <a:extLst xmlns:a="http://schemas.openxmlformats.org/drawingml/2006/main">
              <a:ext uri="{FF2B5EF4-FFF2-40B4-BE49-F238E27FC236}">
                <a16:creationId xmlns:a16="http://schemas.microsoft.com/office/drawing/2014/main" id="{06D4D28B-2F3E-4E4A-B0E9-DAC2667B3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24150"/>
            <a:ext cx="885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Bağımsız Windows uygulaması, belgeler, testler ve sunum tek pakette.</a:t>
            </a:r>
          </a:p>
        </p:txBody>
      </p:sp>
      <p:sp>
        <p:nvSpPr>
          <p:cNvPr id="7" name="text-180">
            <a:extLst xmlns:a="http://schemas.openxmlformats.org/drawingml/2006/main">
              <a:ext uri="{FF2B5EF4-FFF2-40B4-BE49-F238E27FC236}">
                <a16:creationId xmlns:a16="http://schemas.microsoft.com/office/drawing/2014/main" id="{BB1452FE-4C1A-4D47-8AC6-1EB498310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81450"/>
            <a:ext cx="247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162</a:t>
            </a:r>
          </a:p>
        </p:txBody>
      </p:sp>
      <p:sp>
        <p:nvSpPr>
          <p:cNvPr id="8" name="text-181">
            <a:extLst xmlns:a="http://schemas.openxmlformats.org/drawingml/2006/main">
              <a:ext uri="{FF2B5EF4-FFF2-40B4-BE49-F238E27FC236}">
                <a16:creationId xmlns:a16="http://schemas.microsoft.com/office/drawing/2014/main" id="{0F414EBF-1994-4D9B-A715-D4529C972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981450"/>
            <a:ext cx="247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37 / 37</a:t>
            </a:r>
          </a:p>
        </p:txBody>
      </p:sp>
      <p:sp>
        <p:nvSpPr>
          <p:cNvPr id="9" name="text-182">
            <a:extLst xmlns:a="http://schemas.openxmlformats.org/drawingml/2006/main">
              <a:ext uri="{FF2B5EF4-FFF2-40B4-BE49-F238E27FC236}">
                <a16:creationId xmlns:a16="http://schemas.microsoft.com/office/drawing/2014/main" id="{99A15766-1A2B-46B8-B151-AC87FA5B8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981450"/>
            <a:ext cx="1524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10" name="text-183">
            <a:extLst xmlns:a="http://schemas.openxmlformats.org/drawingml/2006/main">
              <a:ext uri="{FF2B5EF4-FFF2-40B4-BE49-F238E27FC236}">
                <a16:creationId xmlns:a16="http://schemas.microsoft.com/office/drawing/2014/main" id="{927D8A9B-6835-484E-BD14-8AD85A2F1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66725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benzersiz A1 kelime</a:t>
            </a:r>
          </a:p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unique A1 words</a:t>
            </a:r>
          </a:p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mots A1 uniques</a:t>
            </a:r>
          </a:p>
        </p:txBody>
      </p:sp>
      <p:sp>
        <p:nvSpPr>
          <p:cNvPr id="11" name="text-184">
            <a:extLst xmlns:a="http://schemas.openxmlformats.org/drawingml/2006/main">
              <a:ext uri="{FF2B5EF4-FFF2-40B4-BE49-F238E27FC236}">
                <a16:creationId xmlns:a16="http://schemas.microsoft.com/office/drawing/2014/main" id="{47D41224-2F70-4FBA-89B2-DAAA3A97B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66725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otomatik test geçti</a:t>
            </a:r>
          </a:p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automated tests passed</a:t>
            </a:r>
          </a:p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tests automatisés réussis</a:t>
            </a:r>
          </a:p>
        </p:txBody>
      </p:sp>
      <p:sp>
        <p:nvSpPr>
          <p:cNvPr id="12" name="text-185">
            <a:extLst xmlns:a="http://schemas.openxmlformats.org/drawingml/2006/main">
              <a:ext uri="{FF2B5EF4-FFF2-40B4-BE49-F238E27FC236}">
                <a16:creationId xmlns:a16="http://schemas.microsoft.com/office/drawing/2014/main" id="{E29B2808-1DF6-469D-8B01-DF2DC2E48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667250"/>
            <a:ext cx="2095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öğrenme alanı</a:t>
            </a:r>
          </a:p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learning areas</a:t>
            </a:r>
          </a:p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espaces d’apprentissage</a:t>
            </a:r>
          </a:p>
        </p:txBody>
      </p:sp>
      <p:sp>
        <p:nvSpPr>
          <p:cNvPr id="13" name="box-186">
            <a:extLst xmlns:a="http://schemas.openxmlformats.org/drawingml/2006/main">
              <a:ext uri="{FF2B5EF4-FFF2-40B4-BE49-F238E27FC236}">
                <a16:creationId xmlns:a16="http://schemas.microsoft.com/office/drawing/2014/main" id="{E4B280F9-7F97-4FDE-A091-253EE14AE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668"/>
          </a:solidFill>
          <a:ln xmlns:a="http://schemas.openxmlformats.org/drawingml/2006/main" w="0">
            <a:solidFill>
              <a:srgbClr val="FF6668"/>
            </a:solidFill>
            <a:prstDash val="solid"/>
          </a:ln>
        </p:spPr>
      </p:sp>
      <p:sp>
        <p:nvSpPr>
          <p:cNvPr id="14" name="text-187">
            <a:extLst xmlns:a="http://schemas.openxmlformats.org/drawingml/2006/main">
              <a:ext uri="{FF2B5EF4-FFF2-40B4-BE49-F238E27FC236}">
                <a16:creationId xmlns:a16="http://schemas.microsoft.com/office/drawing/2014/main" id="{0EA0E6FB-5FEE-4576-90AC-ACC773AB3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1500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EXE + source + docs + private GitHub + trilingual deck · EXE + kaynak + belgeler + GitHub privé + sunum trilingue</a:t>
            </a:r>
          </a:p>
        </p:txBody>
      </p:sp>
      <p:sp>
        <p:nvSpPr>
          <p:cNvPr id="15" name="text-188">
            <a:extLst xmlns:a="http://schemas.openxmlformats.org/drawingml/2006/main">
              <a:ext uri="{FF2B5EF4-FFF2-40B4-BE49-F238E27FC236}">
                <a16:creationId xmlns:a16="http://schemas.microsoft.com/office/drawing/2014/main" id="{D460BC0C-0F16-4EC8-BB39-87DF0D14F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6265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8323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B8323A"/>
                </a:solidFill>
                <a:latin typeface="Arial"/>
                <a:ea typeface="Arial"/>
                <a:cs typeface="Arial"/>
              </a:rPr>
              <a:t>Windows 10/11 (x64) + macOS (Apple Silicon) — İndirme: github.com/Azizsekerdil/FrenchCourseAI/releases (v1.0.0) · (özel repo)</a:t>
            </a:r>
          </a:p>
        </p:txBody>
      </p:sp>
      <p:sp>
        <p:nvSpPr>
          <p:cNvPr id="16" name="text-189">
            <a:extLst xmlns:a="http://schemas.openxmlformats.org/drawingml/2006/main">
              <a:ext uri="{FF2B5EF4-FFF2-40B4-BE49-F238E27FC236}">
                <a16:creationId xmlns:a16="http://schemas.microsoft.com/office/drawing/2014/main" id="{B9A33E28-258F-49E4-94F7-07777D262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0"/>
            <a:ext cx="1066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Windows 10/11 (x64) &amp; macOS (Apple Silicon) — Download: GitHub Releases (v1.0.0)</a:t>
            </a:r>
          </a:p>
        </p:txBody>
      </p:sp>
      <p:sp>
        <p:nvSpPr>
          <p:cNvPr id="17" name="text-190">
            <a:extLst xmlns:a="http://schemas.openxmlformats.org/drawingml/2006/main">
              <a:ext uri="{FF2B5EF4-FFF2-40B4-BE49-F238E27FC236}">
                <a16:creationId xmlns:a16="http://schemas.microsoft.com/office/drawing/2014/main" id="{32575B74-2724-41F0-B36C-016A9C631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00800"/>
            <a:ext cx="1066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macOS paketi Apple Silicon (arm64) içindir ve notarize edilmemiştir; ilk açılışta sağ tık → Aç. / Not notarized; first launch: right-click → Open.</a:t>
            </a:r>
          </a:p>
        </p:txBody>
      </p:sp>
    </p:spTree>
    <p:extLst>
      <p:ext uri="{BB962C8B-B14F-4D97-AF65-F5344CB8AC3E}">
        <p14:creationId xmlns:p14="http://schemas.microsoft.com/office/powerpoint/2010/main" val="83361290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2026-09-06T03:54:53.0430000Z</dcterms:created>
  <dcterms:modified xsi:type="dcterms:W3CDTF">2026-09-06T03:54:53.0430000Z</dcterms:modified>
</coreProperties>
</file>