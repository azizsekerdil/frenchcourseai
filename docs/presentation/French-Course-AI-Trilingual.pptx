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ff979042ab64e58" /><Relationship Type="http://schemas.openxmlformats.org/officeDocument/2006/relationships/extended-properties" Target="/docProps/app.xml" Id="Rdcfbf6b214a74724" /><Relationship Type="http://schemas.openxmlformats.org/officeDocument/2006/relationships/officeDocument" Target="/ppt/presentation.xml" Id="Ra59a0bdc7218435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fab69e473c4139"/>
  </p:sldMasterIdLst>
  <p:notesMasterIdLst>
    <p:notesMasterId xmlns:r="http://schemas.openxmlformats.org/officeDocument/2006/relationships" r:id="R5e42ea198bcd47d5"/>
  </p:notesMasterIdLst>
  <p:sldIdLst>
    <p:sldId xmlns:r="http://schemas.openxmlformats.org/officeDocument/2006/relationships" id="256" r:id="R9d64ab56604744b3"/>
    <p:sldId xmlns:r="http://schemas.openxmlformats.org/officeDocument/2006/relationships" id="257" r:id="R3cdeac128f8141a9"/>
    <p:sldId xmlns:r="http://schemas.openxmlformats.org/officeDocument/2006/relationships" id="258" r:id="R61a5d33b0d2e4a0d"/>
    <p:sldId xmlns:r="http://schemas.openxmlformats.org/officeDocument/2006/relationships" id="259" r:id="R98f7f82188df46eb"/>
    <p:sldId xmlns:r="http://schemas.openxmlformats.org/officeDocument/2006/relationships" id="260" r:id="R6143ed2a8cc64727"/>
    <p:sldId xmlns:r="http://schemas.openxmlformats.org/officeDocument/2006/relationships" id="261" r:id="R093bc2a489d9407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b178edc77c746df" /><Relationship Type="http://schemas.openxmlformats.org/officeDocument/2006/relationships/slideMaster" Target="/ppt/slideMasters/slideMaster1.xml" Id="Rf6fab69e473c4139" /><Relationship Type="http://schemas.openxmlformats.org/officeDocument/2006/relationships/notesMaster" Target="/ppt/notesMasters/notesMaster1.xml" Id="R5e42ea198bcd47d5" /><Relationship Type="http://schemas.openxmlformats.org/officeDocument/2006/relationships/presProps" Target="/ppt/presProps.xml" Id="R3834b1db7d464270" /><Relationship Type="http://schemas.openxmlformats.org/officeDocument/2006/relationships/tableStyles" Target="/ppt/tableStyles.xml" Id="R128cbd3c8a4948d9" /><Relationship Type="http://schemas.openxmlformats.org/officeDocument/2006/relationships/slide" Target="/ppt/slides/slide1.xml" Id="R9d64ab56604744b3" /><Relationship Type="http://schemas.openxmlformats.org/officeDocument/2006/relationships/slide" Target="/ppt/slides/slide2.xml" Id="R3cdeac128f8141a9" /><Relationship Type="http://schemas.openxmlformats.org/officeDocument/2006/relationships/slide" Target="/ppt/slides/slide3.xml" Id="R61a5d33b0d2e4a0d" /><Relationship Type="http://schemas.openxmlformats.org/officeDocument/2006/relationships/slide" Target="/ppt/slides/slide4.xml" Id="R98f7f82188df46eb" /><Relationship Type="http://schemas.openxmlformats.org/officeDocument/2006/relationships/slide" Target="/ppt/slides/slide5.xml" Id="R6143ed2a8cc64727" /><Relationship Type="http://schemas.openxmlformats.org/officeDocument/2006/relationships/slide" Target="/ppt/slides/slide6.xml" Id="R093bc2a489d9407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04fc9f02214d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fc9812d173d4a2a" /><Relationship Type="http://schemas.openxmlformats.org/officeDocument/2006/relationships/notesMaster" Target="/ppt/notesMasters/notesMaster1.xml" Id="Re37e68f0109e40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9fa3f7d43a497f" /><Relationship Type="http://schemas.openxmlformats.org/officeDocument/2006/relationships/notesMaster" Target="/ppt/notesMasters/notesMaster1.xml" Id="R35ba7daafadb4a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9473657f2994926" /><Relationship Type="http://schemas.openxmlformats.org/officeDocument/2006/relationships/notesMaster" Target="/ppt/notesMasters/notesMaster1.xml" Id="Rda59beae7ebb4ff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2ab1f6739c4ddc" /><Relationship Type="http://schemas.openxmlformats.org/officeDocument/2006/relationships/notesMaster" Target="/ppt/notesMasters/notesMaster1.xml" Id="Rdefb418c677e496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bb188a971a545df" /><Relationship Type="http://schemas.openxmlformats.org/officeDocument/2006/relationships/notesMaster" Target="/ppt/notesMasters/notesMaster1.xml" Id="Rb876831134634f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f4f74000dc40e8" /><Relationship Type="http://schemas.openxmlformats.org/officeDocument/2006/relationships/notesMaster" Target="/ppt/notesMasters/notesMaster1.xml" Id="R0c42bb172bcb499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French Course AI overview.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icon generated for this project: D:/GE_FR/FrenchCourseAI/assets/app-final.png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real screenshot captured from the packaged Windows executable.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screenshot: D:/GE_FR/FrenchCourseAI/docs/presentation/assets/french-course-ai-screenshot.jpg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engine and openly licensed resource catalog.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https://en.wikibooks.org/wiki/French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French Course AI language-specific lab examples.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seed data and tests in the local fca source tree.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optional AI path uses a local LM Studio endpoint. The token ledger stores usage metadata, not prompt or response 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source: fca/ai.py and fca/db.py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Delivery summary based on the packaged executable and automated test suite.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French Course AI local build output</a:t>
            </a:r>
          </a:p>
          <a:p xmlns:a="http://schemas.openxmlformats.org/drawingml/2006/main">
            <a:r>
              <a:t>- French Course AI pytest results</a:t>
            </a:r>
          </a:p>
          <a:p xmlns:a="http://schemas.openxmlformats.org/drawingml/2006/main">
            <a:r>
              <a:t>- https://github.com/Azizsekerdil/FrenchCourseAI/releases/tag/v1.2.1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d2d3a393784e5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44d26f1314a4f7f" /><Relationship Type="http://schemas.openxmlformats.org/officeDocument/2006/relationships/slideLayout" Target="/ppt/slideLayouts/slideLayout1.xml" Id="R09105308416c45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105308416c45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7a1c8ee6e34c4a" /><Relationship Type="http://schemas.openxmlformats.org/officeDocument/2006/relationships/image" Target="/ppt/media/image.png" Id="R1455b15016d64731" /><Relationship Type="http://schemas.openxmlformats.org/officeDocument/2006/relationships/notesSlide" Target="/ppt/notesSlides/notesSlide1.xml" Id="R4ac8053f80c04de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c94cb613594564" /><Relationship Type="http://schemas.openxmlformats.org/officeDocument/2006/relationships/image" Target="/ppt/media/image.jpeg" Id="R49d967df62594ceb" /><Relationship Type="http://schemas.openxmlformats.org/officeDocument/2006/relationships/notesSlide" Target="/ppt/notesSlides/notesSlide2.xml" Id="R17152e1b8e0342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99890959784734" /><Relationship Type="http://schemas.openxmlformats.org/officeDocument/2006/relationships/notesSlide" Target="/ppt/notesSlides/notesSlide3.xml" Id="Re84660993705405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e0371b8f2e41fc" /><Relationship Type="http://schemas.openxmlformats.org/officeDocument/2006/relationships/notesSlide" Target="/ppt/notesSlides/notesSlide4.xml" Id="R3e49585c67464b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9f200867b9469a" /><Relationship Type="http://schemas.openxmlformats.org/officeDocument/2006/relationships/notesSlide" Target="/ppt/notesSlides/notesSlide5.xml" Id="R79c2ef9d171f4c9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24a1a8a00c484a" /><Relationship Type="http://schemas.openxmlformats.org/officeDocument/2006/relationships/notesSlide" Target="/ppt/notesSlides/notesSlide6.xml" Id="R30f072c286914c6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x-96">
            <a:extLst xmlns:a="http://schemas.openxmlformats.org/drawingml/2006/main">
              <a:ext uri="{FF2B5EF4-FFF2-40B4-BE49-F238E27FC236}">
                <a16:creationId xmlns:a16="http://schemas.microsoft.com/office/drawing/2014/main" id="{69E57F4C-3AE7-441B-BABA-3671B5F2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97">
            <a:extLst xmlns:a="http://schemas.openxmlformats.org/drawingml/2006/main">
              <a:ext uri="{FF2B5EF4-FFF2-40B4-BE49-F238E27FC236}">
                <a16:creationId xmlns:a16="http://schemas.microsoft.com/office/drawing/2014/main" id="{6D4F4F97-C0DD-4407-9DDD-71E67AC2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98">
            <a:extLst xmlns:a="http://schemas.openxmlformats.org/drawingml/2006/main">
              <a:ext uri="{FF2B5EF4-FFF2-40B4-BE49-F238E27FC236}">
                <a16:creationId xmlns:a16="http://schemas.microsoft.com/office/drawing/2014/main" id="{91D9E5E9-F5C7-4199-AD7F-F01B6DF4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01 / 06</a:t>
            </a:r>
          </a:p>
        </p:txBody>
      </p:sp>
      <p:sp>
        <p:nvSpPr>
          <p:cNvPr id="4" name="text-99">
            <a:extLst xmlns:a="http://schemas.openxmlformats.org/drawingml/2006/main">
              <a:ext uri="{FF2B5EF4-FFF2-40B4-BE49-F238E27FC236}">
                <a16:creationId xmlns:a16="http://schemas.microsoft.com/office/drawing/2014/main" id="{C06180DC-388F-4B5D-BC67-8480A8BB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OFFLINE-FIRST WINDOWS LANGUAGE LEARNING</a:t>
            </a:r>
          </a:p>
        </p:txBody>
      </p:sp>
      <p:sp>
        <p:nvSpPr>
          <p:cNvPr id="5" name="text-100">
            <a:extLst xmlns:a="http://schemas.openxmlformats.org/drawingml/2006/main">
              <a:ext uri="{FF2B5EF4-FFF2-40B4-BE49-F238E27FC236}">
                <a16:creationId xmlns:a16="http://schemas.microsoft.com/office/drawing/2014/main" id="{58EED0B4-7CB5-4CD1-8DD1-30D1E2D9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819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6" name="text-101">
            <a:extLst xmlns:a="http://schemas.openxmlformats.org/drawingml/2006/main">
              <a:ext uri="{FF2B5EF4-FFF2-40B4-BE49-F238E27FC236}">
                <a16:creationId xmlns:a16="http://schemas.microsoft.com/office/drawing/2014/main" id="{54DE1E15-E6F6-4059-B706-88934C7F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432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Türkçe · English · Français</a:t>
            </a:r>
          </a:p>
        </p:txBody>
      </p:sp>
      <p:sp>
        <p:nvSpPr>
          <p:cNvPr id="7" name="text-102">
            <a:extLst xmlns:a="http://schemas.openxmlformats.org/drawingml/2006/main">
              <a:ext uri="{FF2B5EF4-FFF2-40B4-BE49-F238E27FC236}">
                <a16:creationId xmlns:a16="http://schemas.microsoft.com/office/drawing/2014/main" id="{F3ED501B-766D-4DB1-8D95-FB2E72FE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Yerel, ölçülebilir Fransızca öğrenimi</a:t>
            </a:r>
          </a:p>
        </p:txBody>
      </p:sp>
      <p:sp>
        <p:nvSpPr>
          <p:cNvPr id="8" name="text-103">
            <a:extLst xmlns:a="http://schemas.openxmlformats.org/drawingml/2006/main">
              <a:ext uri="{FF2B5EF4-FFF2-40B4-BE49-F238E27FC236}">
                <a16:creationId xmlns:a16="http://schemas.microsoft.com/office/drawing/2014/main" id="{2756FF15-B3EF-49B9-AF45-65CC6E5A8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Local, measurable French learning</a:t>
            </a:r>
          </a:p>
        </p:txBody>
      </p:sp>
      <p:sp>
        <p:nvSpPr>
          <p:cNvPr id="9" name="text-104">
            <a:extLst xmlns:a="http://schemas.openxmlformats.org/drawingml/2006/main">
              <a:ext uri="{FF2B5EF4-FFF2-40B4-BE49-F238E27FC236}">
                <a16:creationId xmlns:a16="http://schemas.microsoft.com/office/drawing/2014/main" id="{E09E021B-1360-4163-99F5-8F9D1C09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 apprentissage local et mesurable du français</a:t>
            </a:r>
          </a:p>
        </p:txBody>
      </p:sp>
      <p:sp>
        <p:nvSpPr>
          <p:cNvPr id="10" name="box-105">
            <a:extLst xmlns:a="http://schemas.openxmlformats.org/drawingml/2006/main">
              <a:ext uri="{FF2B5EF4-FFF2-40B4-BE49-F238E27FC236}">
                <a16:creationId xmlns:a16="http://schemas.microsoft.com/office/drawing/2014/main" id="{AF8020C4-D971-4CAA-B45D-4C2A709DD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144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19050">
            <a:solidFill>
              <a:srgbClr val="FF6668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55b15016d64731"/>
          <a:stretch xmlns:a="http://schemas.openxmlformats.org/drawingml/2006/main"/>
        </p:blipFill>
        <p:spPr>
          <a:xfrm xmlns:a="http://schemas.openxmlformats.org/drawingml/2006/main">
            <a:off x="8963025" y="155257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2" name="text-106">
            <a:extLst xmlns:a="http://schemas.openxmlformats.org/drawingml/2006/main">
              <a:ext uri="{FF2B5EF4-FFF2-40B4-BE49-F238E27FC236}">
                <a16:creationId xmlns:a16="http://schemas.microsoft.com/office/drawing/2014/main" id="{17490753-B28E-46B5-BEA0-B1F5CCA7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00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x64 · macOS arm64</a:t>
            </a:r>
          </a:p>
        </p:txBody>
      </p:sp>
    </p:spTree>
    <p:extLst>
      <p:ext uri="{BB962C8B-B14F-4D97-AF65-F5344CB8AC3E}">
        <p14:creationId xmlns:p14="http://schemas.microsoft.com/office/powerpoint/2010/main" val="7215960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ox-107">
            <a:extLst xmlns:a="http://schemas.openxmlformats.org/drawingml/2006/main">
              <a:ext uri="{FF2B5EF4-FFF2-40B4-BE49-F238E27FC236}">
                <a16:creationId xmlns:a16="http://schemas.microsoft.com/office/drawing/2014/main" id="{547EB03F-FC73-4A84-8943-C429421EE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08">
            <a:extLst xmlns:a="http://schemas.openxmlformats.org/drawingml/2006/main">
              <a:ext uri="{FF2B5EF4-FFF2-40B4-BE49-F238E27FC236}">
                <a16:creationId xmlns:a16="http://schemas.microsoft.com/office/drawing/2014/main" id="{B8F3A0C6-68BD-4A5E-AE96-E54107C1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09">
            <a:extLst xmlns:a="http://schemas.openxmlformats.org/drawingml/2006/main">
              <a:ext uri="{FF2B5EF4-FFF2-40B4-BE49-F238E27FC236}">
                <a16:creationId xmlns:a16="http://schemas.microsoft.com/office/drawing/2014/main" id="{A4C91E93-2C0C-40A4-B46A-4AF60D30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4" name="text-110">
            <a:extLst xmlns:a="http://schemas.openxmlformats.org/drawingml/2006/main">
              <a:ext uri="{FF2B5EF4-FFF2-40B4-BE49-F238E27FC236}">
                <a16:creationId xmlns:a16="http://schemas.microsoft.com/office/drawing/2014/main" id="{6EE5FDF1-A067-4C77-A0A0-1FDF8B50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4095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Apprendre sans friction</a:t>
            </a:r>
          </a:p>
        </p:txBody>
      </p:sp>
      <p:sp>
        <p:nvSpPr>
          <p:cNvPr id="5" name="text-111">
            <a:extLst xmlns:a="http://schemas.openxmlformats.org/drawingml/2006/main">
              <a:ext uri="{FF2B5EF4-FFF2-40B4-BE49-F238E27FC236}">
                <a16:creationId xmlns:a16="http://schemas.microsoft.com/office/drawing/2014/main" id="{A04822AE-DC8E-4471-AB4D-06354505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Tek uygulama, üç arayüz</a:t>
            </a:r>
          </a:p>
        </p:txBody>
      </p:sp>
      <p:sp>
        <p:nvSpPr>
          <p:cNvPr id="6" name="text-112">
            <a:extLst xmlns:a="http://schemas.openxmlformats.org/drawingml/2006/main">
              <a:ext uri="{FF2B5EF4-FFF2-40B4-BE49-F238E27FC236}">
                <a16:creationId xmlns:a16="http://schemas.microsoft.com/office/drawing/2014/main" id="{50563FF1-FAAC-4A59-9A5D-BDBCEEB1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One app, three interfaces</a:t>
            </a:r>
          </a:p>
        </p:txBody>
      </p:sp>
      <p:sp>
        <p:nvSpPr>
          <p:cNvPr id="7" name="box-113">
            <a:extLst xmlns:a="http://schemas.openxmlformats.org/drawingml/2006/main">
              <a:ext uri="{FF2B5EF4-FFF2-40B4-BE49-F238E27FC236}">
                <a16:creationId xmlns:a16="http://schemas.microsoft.com/office/drawing/2014/main" id="{8FCAA7F2-2D6B-4281-871F-37F294E6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3600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8" name="text-114">
            <a:extLst xmlns:a="http://schemas.openxmlformats.org/drawingml/2006/main">
              <a:ext uri="{FF2B5EF4-FFF2-40B4-BE49-F238E27FC236}">
                <a16:creationId xmlns:a16="http://schemas.microsoft.com/office/drawing/2014/main" id="{7ED8483B-2954-45B0-9C74-BB7CA17F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3810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 espaces relient révision, vocabulaire, dictionnaire trilingue FR-EN-TR, examen, grammaire et pratique dans un atelier Windows cohérent.</a:t>
            </a:r>
          </a:p>
        </p:txBody>
      </p:sp>
      <p:sp>
        <p:nvSpPr>
          <p:cNvPr id="9" name="text-115">
            <a:extLst xmlns:a="http://schemas.openxmlformats.org/drawingml/2006/main">
              <a:ext uri="{FF2B5EF4-FFF2-40B4-BE49-F238E27FC236}">
                <a16:creationId xmlns:a16="http://schemas.microsoft.com/office/drawing/2014/main" id="{05AD73FA-E89A-410C-9DEA-3FB07098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Dil seçimi anında kaydedilir; uygulama çevrimdışı çalışmaya devam eder.</a:t>
            </a:r>
          </a:p>
        </p:txBody>
      </p:sp>
      <p:sp>
        <p:nvSpPr>
          <p:cNvPr id="10" name="text-116">
            <a:extLst xmlns:a="http://schemas.openxmlformats.org/drawingml/2006/main">
              <a:ext uri="{FF2B5EF4-FFF2-40B4-BE49-F238E27FC236}">
                <a16:creationId xmlns:a16="http://schemas.microsoft.com/office/drawing/2014/main" id="{39EC5162-97A4-4691-99E5-29111D87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The language choice persists instantly, and core learning stays available offline.</a:t>
            </a:r>
          </a:p>
        </p:txBody>
      </p:sp>
      <p:sp>
        <p:nvSpPr>
          <p:cNvPr id="11" name="box-117">
            <a:extLst xmlns:a="http://schemas.openxmlformats.org/drawingml/2006/main">
              <a:ext uri="{FF2B5EF4-FFF2-40B4-BE49-F238E27FC236}">
                <a16:creationId xmlns:a16="http://schemas.microsoft.com/office/drawing/2014/main" id="{554BED1B-121D-4DFB-8FA2-C0647045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876300"/>
            <a:ext cx="72771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d967df62594ceb"/>
          <a:stretch xmlns:a="http://schemas.openxmlformats.org/drawingml/2006/main"/>
        </p:blipFill>
        <p:spPr>
          <a:xfrm xmlns:a="http://schemas.openxmlformats.org/drawingml/2006/main">
            <a:off x="4692997" y="1047750"/>
            <a:ext cx="6920805" cy="4533900"/>
          </a:xfrm>
          <a:prstGeom xmlns:a="http://schemas.openxmlformats.org/drawingml/2006/main" prst="rect">
            <a:avLst/>
          </a:prstGeom>
        </p:spPr>
      </p:pic>
      <p:sp>
        <p:nvSpPr>
          <p:cNvPr id="13" name="text-118">
            <a:extLst xmlns:a="http://schemas.openxmlformats.org/drawingml/2006/main">
              <a:ext uri="{FF2B5EF4-FFF2-40B4-BE49-F238E27FC236}">
                <a16:creationId xmlns:a16="http://schemas.microsoft.com/office/drawing/2014/main" id="{A6A722DF-21F1-4327-88A3-2ABE1F0D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9245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Gerçek EXE ekranı · Real executable · Application réelle</a:t>
            </a:r>
          </a:p>
        </p:txBody>
      </p:sp>
    </p:spTree>
    <p:extLst>
      <p:ext uri="{BB962C8B-B14F-4D97-AF65-F5344CB8AC3E}">
        <p14:creationId xmlns:p14="http://schemas.microsoft.com/office/powerpoint/2010/main" val="14055985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box-119">
            <a:extLst xmlns:a="http://schemas.openxmlformats.org/drawingml/2006/main">
              <a:ext uri="{FF2B5EF4-FFF2-40B4-BE49-F238E27FC236}">
                <a16:creationId xmlns:a16="http://schemas.microsoft.com/office/drawing/2014/main" id="{645B2F92-03C1-4312-80C3-C05FAD6F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20">
            <a:extLst xmlns:a="http://schemas.openxmlformats.org/drawingml/2006/main">
              <a:ext uri="{FF2B5EF4-FFF2-40B4-BE49-F238E27FC236}">
                <a16:creationId xmlns:a16="http://schemas.microsoft.com/office/drawing/2014/main" id="{4F156F7F-F5ED-478E-93C2-DFC2DD971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21">
            <a:extLst xmlns:a="http://schemas.openxmlformats.org/drawingml/2006/main">
              <a:ext uri="{FF2B5EF4-FFF2-40B4-BE49-F238E27FC236}">
                <a16:creationId xmlns:a16="http://schemas.microsoft.com/office/drawing/2014/main" id="{1C069278-951F-4E78-A7AA-CDC86CC6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4" name="text-122">
            <a:extLst xmlns:a="http://schemas.openxmlformats.org/drawingml/2006/main">
              <a:ext uri="{FF2B5EF4-FFF2-40B4-BE49-F238E27FC236}">
                <a16:creationId xmlns:a16="http://schemas.microsoft.com/office/drawing/2014/main" id="{86181F2E-9EA7-47C8-998F-08076995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learning engine that remembers</a:t>
            </a:r>
          </a:p>
        </p:txBody>
      </p:sp>
      <p:sp>
        <p:nvSpPr>
          <p:cNvPr id="5" name="text-123">
            <a:extLst xmlns:a="http://schemas.openxmlformats.org/drawingml/2006/main">
              <a:ext uri="{FF2B5EF4-FFF2-40B4-BE49-F238E27FC236}">
                <a16:creationId xmlns:a16="http://schemas.microsoft.com/office/drawing/2014/main" id="{CF8172CB-2091-4BF4-BB1A-4643067BD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motoru hatırlar · Le moteur d’apprentissage retient vos progrès</a:t>
            </a:r>
          </a:p>
        </p:txBody>
      </p:sp>
      <p:sp>
        <p:nvSpPr>
          <p:cNvPr id="6" name="text-124">
            <a:extLst xmlns:a="http://schemas.openxmlformats.org/drawingml/2006/main">
              <a:ext uri="{FF2B5EF4-FFF2-40B4-BE49-F238E27FC236}">
                <a16:creationId xmlns:a16="http://schemas.microsoft.com/office/drawing/2014/main" id="{58D681B1-EA95-47C6-88B2-1F4F66BB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7" name="box-125">
            <a:extLst xmlns:a="http://schemas.openxmlformats.org/drawingml/2006/main">
              <a:ext uri="{FF2B5EF4-FFF2-40B4-BE49-F238E27FC236}">
                <a16:creationId xmlns:a16="http://schemas.microsoft.com/office/drawing/2014/main" id="{6E161F96-48C0-4FEB-A4EB-0118EE5C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8" name="text-126">
            <a:extLst xmlns:a="http://schemas.openxmlformats.org/drawingml/2006/main">
              <a:ext uri="{FF2B5EF4-FFF2-40B4-BE49-F238E27FC236}">
                <a16:creationId xmlns:a16="http://schemas.microsoft.com/office/drawing/2014/main" id="{070BB71D-5755-4B8A-9CED-6A1CFE6B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Her gün doğru sıra</a:t>
            </a:r>
          </a:p>
        </p:txBody>
      </p:sp>
      <p:sp>
        <p:nvSpPr>
          <p:cNvPr id="9" name="text-127">
            <a:extLst xmlns:a="http://schemas.openxmlformats.org/drawingml/2006/main">
              <a:ext uri="{FF2B5EF4-FFF2-40B4-BE49-F238E27FC236}">
                <a16:creationId xmlns:a16="http://schemas.microsoft.com/office/drawing/2014/main" id="{0EE48D0F-9FF3-4BE1-8507-29D939AA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SM-2 ve Leitner, yeni ve gecikmiş kartları günlük bir sıraya dönüştürür.</a:t>
            </a:r>
          </a:p>
        </p:txBody>
      </p:sp>
      <p:sp>
        <p:nvSpPr>
          <p:cNvPr id="10" name="text-128">
            <a:extLst xmlns:a="http://schemas.openxmlformats.org/drawingml/2006/main">
              <a:ext uri="{FF2B5EF4-FFF2-40B4-BE49-F238E27FC236}">
                <a16:creationId xmlns:a16="http://schemas.microsoft.com/office/drawing/2014/main" id="{35188F13-30F0-452F-9607-6A951CB4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11" name="box-129">
            <a:extLst xmlns:a="http://schemas.openxmlformats.org/drawingml/2006/main">
              <a:ext uri="{FF2B5EF4-FFF2-40B4-BE49-F238E27FC236}">
                <a16:creationId xmlns:a16="http://schemas.microsoft.com/office/drawing/2014/main" id="{1005AB76-EF33-4F78-BA97-2566A940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12" name="text-130">
            <a:extLst xmlns:a="http://schemas.openxmlformats.org/drawingml/2006/main">
              <a:ext uri="{FF2B5EF4-FFF2-40B4-BE49-F238E27FC236}">
                <a16:creationId xmlns:a16="http://schemas.microsoft.com/office/drawing/2014/main" id="{2ECC8B5D-DAC4-4F78-B2BC-188DB218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Practice with evidence</a:t>
            </a:r>
          </a:p>
        </p:txBody>
      </p:sp>
      <p:sp>
        <p:nvSpPr>
          <p:cNvPr id="13" name="text-131">
            <a:extLst xmlns:a="http://schemas.openxmlformats.org/drawingml/2006/main">
              <a:ext uri="{FF2B5EF4-FFF2-40B4-BE49-F238E27FC236}">
                <a16:creationId xmlns:a16="http://schemas.microsoft.com/office/drawing/2014/main" id="{78C50BB5-2016-4266-946E-CF7085E27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162 A1 entries, a 1,210-entry FR-EN-TR dictionary with selectable direction, strict accented answers, exams, favorites and mistakes share one SQLite record.</a:t>
            </a:r>
          </a:p>
        </p:txBody>
      </p:sp>
      <p:sp>
        <p:nvSpPr>
          <p:cNvPr id="14" name="text-132">
            <a:extLst xmlns:a="http://schemas.openxmlformats.org/drawingml/2006/main">
              <a:ext uri="{FF2B5EF4-FFF2-40B4-BE49-F238E27FC236}">
                <a16:creationId xmlns:a16="http://schemas.microsoft.com/office/drawing/2014/main" id="{1C72D1B6-13DE-450A-888A-EDAE750A0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FRANÇAIS</a:t>
            </a:r>
          </a:p>
        </p:txBody>
      </p:sp>
      <p:sp>
        <p:nvSpPr>
          <p:cNvPr id="15" name="box-133">
            <a:extLst xmlns:a="http://schemas.openxmlformats.org/drawingml/2006/main">
              <a:ext uri="{FF2B5EF4-FFF2-40B4-BE49-F238E27FC236}">
                <a16:creationId xmlns:a16="http://schemas.microsoft.com/office/drawing/2014/main" id="{35FB3CBF-8FC4-495C-9028-A8592379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text-134">
            <a:extLst xmlns:a="http://schemas.openxmlformats.org/drawingml/2006/main">
              <a:ext uri="{FF2B5EF4-FFF2-40B4-BE49-F238E27FC236}">
                <a16:creationId xmlns:a16="http://schemas.microsoft.com/office/drawing/2014/main" id="{68111909-0FFA-44A2-A022-F6612B82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Les progrès restent locaux</a:t>
            </a:r>
          </a:p>
        </p:txBody>
      </p:sp>
      <p:sp>
        <p:nvSpPr>
          <p:cNvPr id="17" name="text-135">
            <a:extLst xmlns:a="http://schemas.openxmlformats.org/drawingml/2006/main">
              <a:ext uri="{FF2B5EF4-FFF2-40B4-BE49-F238E27FC236}">
                <a16:creationId xmlns:a16="http://schemas.microsoft.com/office/drawing/2014/main" id="{54BCB78B-F3A2-4A50-85D4-6368D0EC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Révisions, erreurs, favoris et examens sont enregistrés localement et restent explicables.</a:t>
            </a:r>
          </a:p>
        </p:txBody>
      </p:sp>
      <p:sp>
        <p:nvSpPr>
          <p:cNvPr id="18" name="text-136">
            <a:extLst xmlns:a="http://schemas.openxmlformats.org/drawingml/2006/main">
              <a:ext uri="{FF2B5EF4-FFF2-40B4-BE49-F238E27FC236}">
                <a16:creationId xmlns:a16="http://schemas.microsoft.com/office/drawing/2014/main" id="{49FE4950-FF56-47A5-9B8D-6389AB3C2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Kaynak kataloğu / resource catalog / catalogue de ressources: Wikibooks · Tatoeba · LibriVox · Project Gutenberg</a:t>
            </a:r>
          </a:p>
        </p:txBody>
      </p:sp>
    </p:spTree>
    <p:extLst>
      <p:ext uri="{BB962C8B-B14F-4D97-AF65-F5344CB8AC3E}">
        <p14:creationId xmlns:p14="http://schemas.microsoft.com/office/powerpoint/2010/main" val="20356152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137">
            <a:extLst xmlns:a="http://schemas.openxmlformats.org/drawingml/2006/main">
              <a:ext uri="{FF2B5EF4-FFF2-40B4-BE49-F238E27FC236}">
                <a16:creationId xmlns:a16="http://schemas.microsoft.com/office/drawing/2014/main" id="{F6B3E68E-DD21-41EB-BA02-940692D0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38">
            <a:extLst xmlns:a="http://schemas.openxmlformats.org/drawingml/2006/main">
              <a:ext uri="{FF2B5EF4-FFF2-40B4-BE49-F238E27FC236}">
                <a16:creationId xmlns:a16="http://schemas.microsoft.com/office/drawing/2014/main" id="{77924F79-F1B5-427B-8702-18D57B5E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39">
            <a:extLst xmlns:a="http://schemas.openxmlformats.org/drawingml/2006/main">
              <a:ext uri="{FF2B5EF4-FFF2-40B4-BE49-F238E27FC236}">
                <a16:creationId xmlns:a16="http://schemas.microsoft.com/office/drawing/2014/main" id="{DF3FE5E9-1A51-4960-A223-2B4D8C6F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4" name="text-140">
            <a:extLst xmlns:a="http://schemas.openxmlformats.org/drawingml/2006/main">
              <a:ext uri="{FF2B5EF4-FFF2-40B4-BE49-F238E27FC236}">
                <a16:creationId xmlns:a16="http://schemas.microsoft.com/office/drawing/2014/main" id="{D8AFE7BC-3521-4A45-8B8E-985E8769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 français mérite des outils précis</a:t>
            </a:r>
          </a:p>
        </p:txBody>
      </p:sp>
      <p:sp>
        <p:nvSpPr>
          <p:cNvPr id="5" name="text-141">
            <a:extLst xmlns:a="http://schemas.openxmlformats.org/drawingml/2006/main">
              <a:ext uri="{FF2B5EF4-FFF2-40B4-BE49-F238E27FC236}">
                <a16:creationId xmlns:a16="http://schemas.microsoft.com/office/drawing/2014/main" id="{9E72C852-F597-4EEE-BC9A-23C6E403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Fransızcaya özgü laboratuvar  ·  A French-specific language lab</a:t>
            </a:r>
          </a:p>
        </p:txBody>
      </p:sp>
      <p:sp>
        <p:nvSpPr>
          <p:cNvPr id="6" name="box-142">
            <a:extLst xmlns:a="http://schemas.openxmlformats.org/drawingml/2006/main">
              <a:ext uri="{FF2B5EF4-FFF2-40B4-BE49-F238E27FC236}">
                <a16:creationId xmlns:a16="http://schemas.microsoft.com/office/drawing/2014/main" id="{EBC1341D-D3E5-4CA7-953F-7BC75BC6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text-143">
            <a:extLst xmlns:a="http://schemas.openxmlformats.org/drawingml/2006/main">
              <a:ext uri="{FF2B5EF4-FFF2-40B4-BE49-F238E27FC236}">
                <a16:creationId xmlns:a16="http://schemas.microsoft.com/office/drawing/2014/main" id="{1ADC355D-1471-49BA-901F-9288AA43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l’école · les écoles</a:t>
            </a:r>
          </a:p>
        </p:txBody>
      </p:sp>
      <p:sp>
        <p:nvSpPr>
          <p:cNvPr id="8" name="text-144">
            <a:extLst xmlns:a="http://schemas.openxmlformats.org/drawingml/2006/main">
              <a:ext uri="{FF2B5EF4-FFF2-40B4-BE49-F238E27FC236}">
                <a16:creationId xmlns:a16="http://schemas.microsoft.com/office/drawing/2014/main" id="{14593660-C45E-4E96-89E3-FEF5533B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Artikel ve elision · articles and elision · articles et élision</a:t>
            </a:r>
          </a:p>
        </p:txBody>
      </p:sp>
      <p:sp>
        <p:nvSpPr>
          <p:cNvPr id="9" name="box-145">
            <a:extLst xmlns:a="http://schemas.openxmlformats.org/drawingml/2006/main">
              <a:ext uri="{FF2B5EF4-FFF2-40B4-BE49-F238E27FC236}">
                <a16:creationId xmlns:a16="http://schemas.microsoft.com/office/drawing/2014/main" id="{02C6714D-D85D-47A8-926E-9065CB167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text-146">
            <a:extLst xmlns:a="http://schemas.openxmlformats.org/drawingml/2006/main">
              <a:ext uri="{FF2B5EF4-FFF2-40B4-BE49-F238E27FC236}">
                <a16:creationId xmlns:a16="http://schemas.microsoft.com/office/drawing/2014/main" id="{4A69BEE8-19BC-4F4B-9D84-4BBD4DAA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é · è · ê · ç</a:t>
            </a:r>
          </a:p>
        </p:txBody>
      </p:sp>
      <p:sp>
        <p:nvSpPr>
          <p:cNvPr id="11" name="text-147">
            <a:extLst xmlns:a="http://schemas.openxmlformats.org/drawingml/2006/main">
              <a:ext uri="{FF2B5EF4-FFF2-40B4-BE49-F238E27FC236}">
                <a16:creationId xmlns:a16="http://schemas.microsoft.com/office/drawing/2014/main" id="{119ED5FB-908A-421A-8F2B-7E9727D5A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Aksan araması kontrollü · controlled accent search · recherche d’accents contrôlée</a:t>
            </a:r>
          </a:p>
        </p:txBody>
      </p:sp>
      <p:sp>
        <p:nvSpPr>
          <p:cNvPr id="12" name="box-148">
            <a:extLst xmlns:a="http://schemas.openxmlformats.org/drawingml/2006/main">
              <a:ext uri="{FF2B5EF4-FFF2-40B4-BE49-F238E27FC236}">
                <a16:creationId xmlns:a16="http://schemas.microsoft.com/office/drawing/2014/main" id="{28654B31-631C-4BF0-9F02-EB55F404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text-149">
            <a:extLst xmlns:a="http://schemas.openxmlformats.org/drawingml/2006/main">
              <a:ext uri="{FF2B5EF4-FFF2-40B4-BE49-F238E27FC236}">
                <a16:creationId xmlns:a16="http://schemas.microsoft.com/office/drawing/2014/main" id="{34DBD6C4-CA5E-47F9-9488-3CA2115BE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cœur · sœur · œuvre</a:t>
            </a:r>
          </a:p>
        </p:txBody>
      </p:sp>
      <p:sp>
        <p:nvSpPr>
          <p:cNvPr id="14" name="text-150">
            <a:extLst xmlns:a="http://schemas.openxmlformats.org/drawingml/2006/main">
              <a:ext uri="{FF2B5EF4-FFF2-40B4-BE49-F238E27FC236}">
                <a16:creationId xmlns:a16="http://schemas.microsoft.com/office/drawing/2014/main" id="{2D6AD33A-1967-4399-A68E-2A790E9B0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œ aramada esnek, yanıtta kesin · flexible search, strict answer · recherche souple, réponse exacte</a:t>
            </a:r>
          </a:p>
        </p:txBody>
      </p:sp>
      <p:sp>
        <p:nvSpPr>
          <p:cNvPr id="15" name="box-151">
            <a:extLst xmlns:a="http://schemas.openxmlformats.org/drawingml/2006/main">
              <a:ext uri="{FF2B5EF4-FFF2-40B4-BE49-F238E27FC236}">
                <a16:creationId xmlns:a16="http://schemas.microsoft.com/office/drawing/2014/main" id="{ACDFEA24-0433-4B94-BF66-3AAA10A5F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text-152">
            <a:extLst xmlns:a="http://schemas.openxmlformats.org/drawingml/2006/main">
              <a:ext uri="{FF2B5EF4-FFF2-40B4-BE49-F238E27FC236}">
                <a16:creationId xmlns:a16="http://schemas.microsoft.com/office/drawing/2014/main" id="{DD16DA29-8069-40A8-80BB-F00CDCE3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yeux → l’œil (m)</a:t>
            </a:r>
          </a:p>
        </p:txBody>
      </p:sp>
      <p:sp>
        <p:nvSpPr>
          <p:cNvPr id="17" name="text-153">
            <a:extLst xmlns:a="http://schemas.openxmlformats.org/drawingml/2006/main">
              <a:ext uri="{FF2B5EF4-FFF2-40B4-BE49-F238E27FC236}">
                <a16:creationId xmlns:a16="http://schemas.microsoft.com/office/drawing/2014/main" id="{4C276E28-A23F-4484-878B-0B51E4F6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Sözlük FR↔EN↔TR yön seçimli · dictionary FR/EN/TR with direction switch · dictionnaire FR/EN/TR à sens réglable</a:t>
            </a:r>
          </a:p>
        </p:txBody>
      </p:sp>
    </p:spTree>
    <p:extLst>
      <p:ext uri="{BB962C8B-B14F-4D97-AF65-F5344CB8AC3E}">
        <p14:creationId xmlns:p14="http://schemas.microsoft.com/office/powerpoint/2010/main" val="12406599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ox-154">
            <a:extLst xmlns:a="http://schemas.openxmlformats.org/drawingml/2006/main">
              <a:ext uri="{FF2B5EF4-FFF2-40B4-BE49-F238E27FC236}">
                <a16:creationId xmlns:a16="http://schemas.microsoft.com/office/drawing/2014/main" id="{217470D2-AB29-4763-9E2B-7E9B02E9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55">
            <a:extLst xmlns:a="http://schemas.openxmlformats.org/drawingml/2006/main">
              <a:ext uri="{FF2B5EF4-FFF2-40B4-BE49-F238E27FC236}">
                <a16:creationId xmlns:a16="http://schemas.microsoft.com/office/drawing/2014/main" id="{D4B816BC-B6A5-4A81-8963-EE10852CA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56">
            <a:extLst xmlns:a="http://schemas.openxmlformats.org/drawingml/2006/main">
              <a:ext uri="{FF2B5EF4-FFF2-40B4-BE49-F238E27FC236}">
                <a16:creationId xmlns:a16="http://schemas.microsoft.com/office/drawing/2014/main" id="{4BD157BB-57D0-492E-A6DA-A57B7F95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4" name="text-157">
            <a:extLst xmlns:a="http://schemas.openxmlformats.org/drawingml/2006/main">
              <a:ext uri="{FF2B5EF4-FFF2-40B4-BE49-F238E27FC236}">
                <a16:creationId xmlns:a16="http://schemas.microsoft.com/office/drawing/2014/main" id="{85A5B55D-03F1-4218-9AE1-1362BBAB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isteğe bağlı; mahremiyet varsayılan</a:t>
            </a:r>
          </a:p>
        </p:txBody>
      </p:sp>
      <p:sp>
        <p:nvSpPr>
          <p:cNvPr id="5" name="text-158">
            <a:extLst xmlns:a="http://schemas.openxmlformats.org/drawingml/2006/main">
              <a:ext uri="{FF2B5EF4-FFF2-40B4-BE49-F238E27FC236}">
                <a16:creationId xmlns:a16="http://schemas.microsoft.com/office/drawing/2014/main" id="{8D026EED-2399-48FB-B08F-5B28AA81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AI is optional; privacy is the default  ·  L’IA est facultative; la confidentialité est la règle</a:t>
            </a:r>
          </a:p>
        </p:txBody>
      </p:sp>
      <p:sp>
        <p:nvSpPr>
          <p:cNvPr id="6" name="box-159">
            <a:extLst xmlns:a="http://schemas.openxmlformats.org/drawingml/2006/main">
              <a:ext uri="{FF2B5EF4-FFF2-40B4-BE49-F238E27FC236}">
                <a16:creationId xmlns:a16="http://schemas.microsoft.com/office/drawing/2014/main" id="{0D3B9DAE-E519-4036-A23E-27613D270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dot-160">
            <a:extLst xmlns:a="http://schemas.openxmlformats.org/drawingml/2006/main">
              <a:ext uri="{FF2B5EF4-FFF2-40B4-BE49-F238E27FC236}">
                <a16:creationId xmlns:a16="http://schemas.microsoft.com/office/drawing/2014/main" id="{40234F09-542D-42CF-8128-FB7B5C24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1">
            <a:extLst xmlns:a="http://schemas.openxmlformats.org/drawingml/2006/main">
              <a:ext uri="{FF2B5EF4-FFF2-40B4-BE49-F238E27FC236}">
                <a16:creationId xmlns:a16="http://schemas.microsoft.com/office/drawing/2014/main" id="{5E4861EE-C0F2-49A2-AC48-93DDDB31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01 · CONTEXT</a:t>
            </a:r>
          </a:p>
        </p:txBody>
      </p:sp>
      <p:sp>
        <p:nvSpPr>
          <p:cNvPr id="9" name="text-162">
            <a:extLst xmlns:a="http://schemas.openxmlformats.org/drawingml/2006/main">
              <a:ext uri="{FF2B5EF4-FFF2-40B4-BE49-F238E27FC236}">
                <a16:creationId xmlns:a16="http://schemas.microsoft.com/office/drawing/2014/main" id="{77F29146-CDC5-43CA-A7EA-7C086F81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Öğrenci bağlamı</a:t>
            </a:r>
          </a:p>
        </p:txBody>
      </p:sp>
      <p:sp>
        <p:nvSpPr>
          <p:cNvPr id="10" name="text-163">
            <a:extLst xmlns:a="http://schemas.openxmlformats.org/drawingml/2006/main">
              <a:ext uri="{FF2B5EF4-FFF2-40B4-BE49-F238E27FC236}">
                <a16:creationId xmlns:a16="http://schemas.microsoft.com/office/drawing/2014/main" id="{951C1656-4B31-4984-B193-266001FAA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Seviye, hedef ve etkin çalışma uygulama içinde derlenir.</a:t>
            </a:r>
          </a:p>
        </p:txBody>
      </p:sp>
      <p:sp>
        <p:nvSpPr>
          <p:cNvPr id="11" name="dot-164">
            <a:extLst xmlns:a="http://schemas.openxmlformats.org/drawingml/2006/main">
              <a:ext uri="{FF2B5EF4-FFF2-40B4-BE49-F238E27FC236}">
                <a16:creationId xmlns:a16="http://schemas.microsoft.com/office/drawing/2014/main" id="{A8C101B6-384D-4045-8B91-8CDBDD1F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65">
            <a:extLst xmlns:a="http://schemas.openxmlformats.org/drawingml/2006/main">
              <a:ext uri="{FF2B5EF4-FFF2-40B4-BE49-F238E27FC236}">
                <a16:creationId xmlns:a16="http://schemas.microsoft.com/office/drawing/2014/main" id="{908B8F1D-3B1B-4A72-9A1C-793F5CF5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02 · LOCAL MODEL</a:t>
            </a:r>
          </a:p>
        </p:txBody>
      </p:sp>
      <p:sp>
        <p:nvSpPr>
          <p:cNvPr id="13" name="text-166">
            <a:extLst xmlns:a="http://schemas.openxmlformats.org/drawingml/2006/main">
              <a:ext uri="{FF2B5EF4-FFF2-40B4-BE49-F238E27FC236}">
                <a16:creationId xmlns:a16="http://schemas.microsoft.com/office/drawing/2014/main" id="{9C0B0016-67F0-4283-A129-1FB9F6DE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LM Studio / alt. uç</a:t>
            </a:r>
          </a:p>
        </p:txBody>
      </p:sp>
      <p:sp>
        <p:nvSpPr>
          <p:cNvPr id="14" name="text-167">
            <a:extLst xmlns:a="http://schemas.openxmlformats.org/drawingml/2006/main">
              <a:ext uri="{FF2B5EF4-FFF2-40B4-BE49-F238E27FC236}">
                <a16:creationId xmlns:a16="http://schemas.microsoft.com/office/drawing/2014/main" id="{BD9E2099-2B9D-4EBE-BF39-1BDB8688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Önce yerel LM Studio; isteğe bağlı NVIDIA NIM veya özel OpenAI uyumlu uç. API anahtarı diske yazılmaz.</a:t>
            </a:r>
          </a:p>
        </p:txBody>
      </p:sp>
      <p:sp>
        <p:nvSpPr>
          <p:cNvPr id="15" name="dot-168">
            <a:extLst xmlns:a="http://schemas.openxmlformats.org/drawingml/2006/main">
              <a:ext uri="{FF2B5EF4-FFF2-40B4-BE49-F238E27FC236}">
                <a16:creationId xmlns:a16="http://schemas.microsoft.com/office/drawing/2014/main" id="{4DF352B7-E2C2-4888-8EF3-A967F1E4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69">
            <a:extLst xmlns:a="http://schemas.openxmlformats.org/drawingml/2006/main">
              <a:ext uri="{FF2B5EF4-FFF2-40B4-BE49-F238E27FC236}">
                <a16:creationId xmlns:a16="http://schemas.microsoft.com/office/drawing/2014/main" id="{2583DD93-8CDB-498E-A0B3-C3EEB528B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03 · RECORD</a:t>
            </a:r>
          </a:p>
        </p:txBody>
      </p:sp>
      <p:sp>
        <p:nvSpPr>
          <p:cNvPr id="17" name="text-170">
            <a:extLst xmlns:a="http://schemas.openxmlformats.org/drawingml/2006/main">
              <a:ext uri="{FF2B5EF4-FFF2-40B4-BE49-F238E27FC236}">
                <a16:creationId xmlns:a16="http://schemas.microsoft.com/office/drawing/2014/main" id="{4B6CC549-5DEB-44B3-AC6D-8857E168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Güvenli kayıt</a:t>
            </a:r>
          </a:p>
        </p:txBody>
      </p:sp>
      <p:sp>
        <p:nvSpPr>
          <p:cNvPr id="18" name="text-171">
            <a:extLst xmlns:a="http://schemas.openxmlformats.org/drawingml/2006/main">
              <a:ext uri="{FF2B5EF4-FFF2-40B4-BE49-F238E27FC236}">
                <a16:creationId xmlns:a16="http://schemas.microsoft.com/office/drawing/2014/main" id="{3B87D022-B072-4DA7-B833-988B0507A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Yalnızca süre, token sayısı ve durum tutulur; konuşma metni tutulmaz.</a:t>
            </a:r>
          </a:p>
        </p:txBody>
      </p:sp>
      <p:sp>
        <p:nvSpPr>
          <p:cNvPr id="19" name="box-172">
            <a:extLst xmlns:a="http://schemas.openxmlformats.org/drawingml/2006/main">
              <a:ext uri="{FF2B5EF4-FFF2-40B4-BE49-F238E27FC236}">
                <a16:creationId xmlns:a16="http://schemas.microsoft.com/office/drawing/2014/main" id="{8614EBDE-81F2-40E8-8E7F-AFD4AFBE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66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0">
            <a:solidFill>
              <a:srgbClr val="FFE5E5"/>
            </a:solidFill>
            <a:prstDash val="solid"/>
          </a:ln>
        </p:spPr>
      </p:sp>
      <p:sp>
        <p:nvSpPr>
          <p:cNvPr id="20" name="text-173">
            <a:extLst xmlns:a="http://schemas.openxmlformats.org/drawingml/2006/main">
              <a:ext uri="{FF2B5EF4-FFF2-40B4-BE49-F238E27FC236}">
                <a16:creationId xmlns:a16="http://schemas.microsoft.com/office/drawing/2014/main" id="{92F764CF-70B0-4A66-AE49-064C10E3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769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Çevrimdışı çekirdek / Offline core / cœur hors ligne — AI kapalıyken de tüm temel çalışma akışları kullanılabilir.</a:t>
            </a:r>
          </a:p>
        </p:txBody>
      </p:sp>
    </p:spTree>
    <p:extLst>
      <p:ext uri="{BB962C8B-B14F-4D97-AF65-F5344CB8AC3E}">
        <p14:creationId xmlns:p14="http://schemas.microsoft.com/office/powerpoint/2010/main" val="12101158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174">
            <a:extLst xmlns:a="http://schemas.openxmlformats.org/drawingml/2006/main">
              <a:ext uri="{FF2B5EF4-FFF2-40B4-BE49-F238E27FC236}">
                <a16:creationId xmlns:a16="http://schemas.microsoft.com/office/drawing/2014/main" id="{2F0CE2E5-4D87-4185-86D2-D301A558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75">
            <a:extLst xmlns:a="http://schemas.openxmlformats.org/drawingml/2006/main">
              <a:ext uri="{FF2B5EF4-FFF2-40B4-BE49-F238E27FC236}">
                <a16:creationId xmlns:a16="http://schemas.microsoft.com/office/drawing/2014/main" id="{AED2F882-158B-4D54-AA47-03EDC9BBA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TESLİME HAZIR · READY TO DELIVER · PRÊT À LIVRER</a:t>
            </a:r>
          </a:p>
        </p:txBody>
      </p:sp>
      <p:sp>
        <p:nvSpPr>
          <p:cNvPr id="3" name="text-176">
            <a:extLst xmlns:a="http://schemas.openxmlformats.org/drawingml/2006/main">
              <a:ext uri="{FF2B5EF4-FFF2-40B4-BE49-F238E27FC236}">
                <a16:creationId xmlns:a16="http://schemas.microsoft.com/office/drawing/2014/main" id="{849D29BC-10A8-44FB-98B4-53E691BC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Hazır.</a:t>
            </a:r>
          </a:p>
        </p:txBody>
      </p:sp>
      <p:sp>
        <p:nvSpPr>
          <p:cNvPr id="4" name="text-177">
            <a:extLst xmlns:a="http://schemas.openxmlformats.org/drawingml/2006/main">
              <a:ext uri="{FF2B5EF4-FFF2-40B4-BE49-F238E27FC236}">
                <a16:creationId xmlns:a16="http://schemas.microsoft.com/office/drawing/2014/main" id="{0CA01E1A-EAC5-41EE-8D01-C4D7E7C4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Ready.</a:t>
            </a:r>
          </a:p>
        </p:txBody>
      </p:sp>
      <p:sp>
        <p:nvSpPr>
          <p:cNvPr id="5" name="text-178">
            <a:extLst xmlns:a="http://schemas.openxmlformats.org/drawingml/2006/main">
              <a:ext uri="{FF2B5EF4-FFF2-40B4-BE49-F238E27FC236}">
                <a16:creationId xmlns:a16="http://schemas.microsoft.com/office/drawing/2014/main" id="{06A57ECE-4AB5-4822-9C94-F807FA3A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7640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Prêt.</a:t>
            </a:r>
          </a:p>
        </p:txBody>
      </p:sp>
      <p:sp>
        <p:nvSpPr>
          <p:cNvPr id="6" name="text-179">
            <a:extLst xmlns:a="http://schemas.openxmlformats.org/drawingml/2006/main">
              <a:ext uri="{FF2B5EF4-FFF2-40B4-BE49-F238E27FC236}">
                <a16:creationId xmlns:a16="http://schemas.microsoft.com/office/drawing/2014/main" id="{2026FCB3-54EE-43A7-8735-1F92C5C5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Bağımsız Windows uygulaması, belgeler, testler ve sunum tek pakette.</a:t>
            </a:r>
          </a:p>
        </p:txBody>
      </p:sp>
      <p:sp>
        <p:nvSpPr>
          <p:cNvPr id="7" name="text-180">
            <a:extLst xmlns:a="http://schemas.openxmlformats.org/drawingml/2006/main">
              <a:ext uri="{FF2B5EF4-FFF2-40B4-BE49-F238E27FC236}">
                <a16:creationId xmlns:a16="http://schemas.microsoft.com/office/drawing/2014/main" id="{D0B64BD7-9089-431C-BF00-4C241937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162</a:t>
            </a:r>
          </a:p>
        </p:txBody>
      </p:sp>
      <p:sp>
        <p:nvSpPr>
          <p:cNvPr id="8" name="text-181">
            <a:extLst xmlns:a="http://schemas.openxmlformats.org/drawingml/2006/main">
              <a:ext uri="{FF2B5EF4-FFF2-40B4-BE49-F238E27FC236}">
                <a16:creationId xmlns:a16="http://schemas.microsoft.com/office/drawing/2014/main" id="{81427581-B9B3-4C96-887B-88F3FCFF8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90 / 90</a:t>
            </a:r>
          </a:p>
        </p:txBody>
      </p:sp>
      <p:sp>
        <p:nvSpPr>
          <p:cNvPr id="9" name="text-182">
            <a:extLst xmlns:a="http://schemas.openxmlformats.org/drawingml/2006/main">
              <a:ext uri="{FF2B5EF4-FFF2-40B4-BE49-F238E27FC236}">
                <a16:creationId xmlns:a16="http://schemas.microsoft.com/office/drawing/2014/main" id="{40A5D830-8400-4687-A74D-31D58F76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81450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0" name="text-183">
            <a:extLst xmlns:a="http://schemas.openxmlformats.org/drawingml/2006/main">
              <a:ext uri="{FF2B5EF4-FFF2-40B4-BE49-F238E27FC236}">
                <a16:creationId xmlns:a16="http://schemas.microsoft.com/office/drawing/2014/main" id="{57251E17-13CA-4C86-9B47-F3D56E55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benzersiz A1 kelime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unique A1 words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mots A1 uniques</a:t>
            </a:r>
          </a:p>
        </p:txBody>
      </p:sp>
      <p:sp>
        <p:nvSpPr>
          <p:cNvPr id="11" name="text-184">
            <a:extLst xmlns:a="http://schemas.openxmlformats.org/drawingml/2006/main">
              <a:ext uri="{FF2B5EF4-FFF2-40B4-BE49-F238E27FC236}">
                <a16:creationId xmlns:a16="http://schemas.microsoft.com/office/drawing/2014/main" id="{692488E3-61AD-49F0-8CB3-E84169E5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otomatik test geçti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automated tests passed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tests automatisés réussis</a:t>
            </a:r>
          </a:p>
        </p:txBody>
      </p:sp>
      <p:sp>
        <p:nvSpPr>
          <p:cNvPr id="12" name="text-185">
            <a:extLst xmlns:a="http://schemas.openxmlformats.org/drawingml/2006/main">
              <a:ext uri="{FF2B5EF4-FFF2-40B4-BE49-F238E27FC236}">
                <a16:creationId xmlns:a16="http://schemas.microsoft.com/office/drawing/2014/main" id="{5F72090B-B17E-4FAE-981A-151E986A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alanı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learning areas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espaces d’apprentissage</a:t>
            </a:r>
          </a:p>
        </p:txBody>
      </p:sp>
      <p:sp>
        <p:nvSpPr>
          <p:cNvPr id="13" name="box-186">
            <a:extLst xmlns:a="http://schemas.openxmlformats.org/drawingml/2006/main">
              <a:ext uri="{FF2B5EF4-FFF2-40B4-BE49-F238E27FC236}">
                <a16:creationId xmlns:a16="http://schemas.microsoft.com/office/drawing/2014/main" id="{917AA589-A296-4650-B36A-BC87F646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14" name="text-187">
            <a:extLst xmlns:a="http://schemas.openxmlformats.org/drawingml/2006/main">
              <a:ext uri="{FF2B5EF4-FFF2-40B4-BE49-F238E27FC236}">
                <a16:creationId xmlns:a16="http://schemas.microsoft.com/office/drawing/2014/main" id="{103421F0-4F69-4DB4-B9C0-33F50511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 + source + docs + private GitHub + trilingual deck · EXE + kaynak + belgeler + GitHub privé + sunum trilingue</a:t>
            </a:r>
          </a:p>
        </p:txBody>
      </p:sp>
      <p:sp>
        <p:nvSpPr>
          <p:cNvPr id="15" name="text-188">
            <a:extLst xmlns:a="http://schemas.openxmlformats.org/drawingml/2006/main">
              <a:ext uri="{FF2B5EF4-FFF2-40B4-BE49-F238E27FC236}">
                <a16:creationId xmlns:a16="http://schemas.microsoft.com/office/drawing/2014/main" id="{939E1FC9-BEC9-4A06-9D1E-7987E288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github.com/Azizsekerdil/FrenchCourseAI/releases (v1.2.1) · (özel repo)</a:t>
            </a:r>
          </a:p>
        </p:txBody>
      </p:sp>
      <p:sp>
        <p:nvSpPr>
          <p:cNvPr id="16" name="text-189">
            <a:extLst xmlns:a="http://schemas.openxmlformats.org/drawingml/2006/main">
              <a:ext uri="{FF2B5EF4-FFF2-40B4-BE49-F238E27FC236}">
                <a16:creationId xmlns:a16="http://schemas.microsoft.com/office/drawing/2014/main" id="{FA51F38E-7AE1-40E4-B62C-77A26EA6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(v1.2.1)</a:t>
            </a:r>
          </a:p>
        </p:txBody>
      </p:sp>
      <p:sp>
        <p:nvSpPr>
          <p:cNvPr id="17" name="text-190">
            <a:extLst xmlns:a="http://schemas.openxmlformats.org/drawingml/2006/main">
              <a:ext uri="{FF2B5EF4-FFF2-40B4-BE49-F238E27FC236}">
                <a16:creationId xmlns:a16="http://schemas.microsoft.com/office/drawing/2014/main" id="{A2C63F1C-16F8-4E4E-AD10-7F9FD2CB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macOS paketi Apple Silicon (arm64) içindir ve notarize edilmemiştir; ilk açılışta sağ tık → Aç. / Not notarized; first launch: right-click → Open.</a:t>
            </a:r>
          </a:p>
        </p:txBody>
      </p:sp>
    </p:spTree>
    <p:extLst>
      <p:ext uri="{BB962C8B-B14F-4D97-AF65-F5344CB8AC3E}">
        <p14:creationId xmlns:p14="http://schemas.microsoft.com/office/powerpoint/2010/main" val="13011964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2026-09-07T05:07:25.0020000Z</dcterms:created>
  <dcterms:modified xsi:type="dcterms:W3CDTF">2026-09-07T05:07:25.0020000Z</dcterms:modified>
</coreProperties>
</file>